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10"/>
  </p:normalViewPr>
  <p:slideViewPr>
    <p:cSldViewPr snapToGrid="0" snapToObjects="1">
      <p:cViewPr>
        <p:scale>
          <a:sx n="75" d="100"/>
          <a:sy n="75" d="100"/>
        </p:scale>
        <p:origin x="2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0165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5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4322" y="0"/>
            <a:ext cx="10840307" cy="6858000"/>
          </a:xfrm>
          <a:prstGeom prst="rect">
            <a:avLst/>
          </a:prstGeom>
          <a:solidFill>
            <a:srgbClr val="343A4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384399" y="336525"/>
            <a:ext cx="6233177" cy="1204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 DESIGN DOCUMENT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3384399" y="607532"/>
            <a:ext cx="6233177" cy="410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안심맵 사용자·관리자 화면설계서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793356" y="1199185"/>
            <a:ext cx="602239" cy="22584"/>
          </a:xfrm>
          <a:prstGeom prst="rect">
            <a:avLst/>
          </a:prstGeom>
          <a:solidFill>
            <a:srgbClr val="ADB5B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384399" y="1402441"/>
            <a:ext cx="5691161" cy="406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부모님 위치 확인 서비스 '안심맵'의 프론트엔드 전체 프로세스 화면설계서. 로그인·온보딩, 부모님, 가족, 관리자 4개 플로우의 모든 화면과 서브상태를 실제 구현 화면 캡처 기반으로 문서화한다.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3384399" y="2110072"/>
            <a:ext cx="5420154" cy="1385150"/>
          </a:xfrm>
          <a:prstGeom prst="rect">
            <a:avLst/>
          </a:prstGeom>
          <a:solidFill>
            <a:srgbClr val="F8F9FA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17767" y="2343440"/>
            <a:ext cx="2537309" cy="22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안심맵 (Ansimmap)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6154700" y="2343440"/>
            <a:ext cx="2537309" cy="22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Document Type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 Design (Wireframe)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3617767" y="2689728"/>
            <a:ext cx="2537309" cy="22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Version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v2.0</a:t>
            </a:r>
            <a:endParaRPr lang="en-US" sz="700" dirty="0"/>
          </a:p>
        </p:txBody>
      </p:sp>
      <p:sp>
        <p:nvSpPr>
          <p:cNvPr id="11" name="Text 9"/>
          <p:cNvSpPr txBox="1"/>
          <p:nvPr/>
        </p:nvSpPr>
        <p:spPr>
          <a:xfrm>
            <a:off x="6154700" y="2689728"/>
            <a:ext cx="2537309" cy="22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Date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2026-06-18</a:t>
            </a:r>
            <a:endParaRPr lang="en-US" sz="700" dirty="0"/>
          </a:p>
        </p:txBody>
      </p:sp>
      <p:sp>
        <p:nvSpPr>
          <p:cNvPr id="12" name="Text 10"/>
          <p:cNvSpPr txBox="1"/>
          <p:nvPr/>
        </p:nvSpPr>
        <p:spPr>
          <a:xfrm>
            <a:off x="3617767" y="3036015"/>
            <a:ext cx="2537309" cy="22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Total Screens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18개</a:t>
            </a:r>
            <a:endParaRPr lang="en-US" sz="700" dirty="0"/>
          </a:p>
        </p:txBody>
      </p:sp>
      <p:sp>
        <p:nvSpPr>
          <p:cNvPr id="13" name="Text 11"/>
          <p:cNvSpPr txBox="1"/>
          <p:nvPr/>
        </p:nvSpPr>
        <p:spPr>
          <a:xfrm>
            <a:off x="6154700" y="3036015"/>
            <a:ext cx="2537309" cy="22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Status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 완료 (실제 화면 캡처)</a:t>
            </a:r>
            <a:endParaRPr lang="en-US" sz="700" dirty="0"/>
          </a:p>
        </p:txBody>
      </p:sp>
      <p:sp>
        <p:nvSpPr>
          <p:cNvPr id="14" name="Text 12"/>
          <p:cNvSpPr txBox="1"/>
          <p:nvPr/>
        </p:nvSpPr>
        <p:spPr>
          <a:xfrm>
            <a:off x="3384399" y="3796342"/>
            <a:ext cx="6233177" cy="143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CED4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 List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84399" y="4059822"/>
            <a:ext cx="2687493" cy="23336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489791" y="4120046"/>
            <a:ext cx="2611084" cy="11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SCR-001</a:t>
            </a:r>
            <a:r>
              <a:rPr lang="en-US" sz="700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로그인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6117060" y="4059822"/>
            <a:ext cx="2687493" cy="23336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222452" y="4120046"/>
            <a:ext cx="2611084" cy="11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SCR-001</a:t>
            </a:r>
            <a:r>
              <a:rPr lang="en-US" sz="700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회원가입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384399" y="4338358"/>
            <a:ext cx="2687493" cy="23336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489791" y="4398582"/>
            <a:ext cx="2611084" cy="11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SCR-002</a:t>
            </a:r>
            <a:r>
              <a:rPr lang="en-US" sz="700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온보딩 1단계 (환영)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6117060" y="4338358"/>
            <a:ext cx="2687493" cy="23336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222452" y="4398582"/>
            <a:ext cx="2611084" cy="11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SCR-002</a:t>
            </a:r>
            <a:r>
              <a:rPr lang="en-US" sz="700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온보딩 2단계 (초대 코드)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3384399" y="4616893"/>
            <a:ext cx="2687493" cy="23336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489791" y="4677117"/>
            <a:ext cx="2611084" cy="11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SCR-002</a:t>
            </a:r>
            <a:r>
              <a:rPr lang="en-US" sz="700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온보딩 3단계 (위치정보 동의)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117060" y="4616893"/>
            <a:ext cx="2687493" cy="23336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222452" y="4677117"/>
            <a:ext cx="2611084" cy="11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SCR-002</a:t>
            </a:r>
            <a:r>
              <a:rPr lang="en-US" sz="700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온보딩 4단계 (완료)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3384399" y="4895429"/>
            <a:ext cx="2687493" cy="23336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489791" y="4955653"/>
            <a:ext cx="2611084" cy="11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SCR-005</a:t>
            </a:r>
            <a:r>
              <a:rPr lang="en-US" sz="700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가족 그룹 생성·참여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6117060" y="4895429"/>
            <a:ext cx="2687493" cy="23336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222452" y="4955653"/>
            <a:ext cx="2611084" cy="11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SCR-003</a:t>
            </a:r>
            <a:r>
              <a:rPr lang="en-US" sz="700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부모님 메인 (SOS)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3384399" y="5173965"/>
            <a:ext cx="2687493" cy="23336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3489791" y="5234189"/>
            <a:ext cx="2611084" cy="11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SCR-004</a:t>
            </a:r>
            <a:r>
              <a:rPr lang="en-US" sz="700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부모님 설정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6117060" y="5173965"/>
            <a:ext cx="2687493" cy="23336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222452" y="5234189"/>
            <a:ext cx="2611084" cy="11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SCR-014</a:t>
            </a:r>
            <a:r>
              <a:rPr lang="en-US" sz="700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부모님 음성 채팅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3384399" y="5452501"/>
            <a:ext cx="2687493" cy="23336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3489791" y="5512724"/>
            <a:ext cx="2611084" cy="11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SCR-006</a:t>
            </a:r>
            <a:r>
              <a:rPr lang="en-US" sz="700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가족 메인 (실시간 지도)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6117060" y="5452501"/>
            <a:ext cx="2687493" cy="23336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222452" y="5512724"/>
            <a:ext cx="2611084" cy="11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SCR-007</a:t>
            </a:r>
            <a:r>
              <a:rPr lang="en-US" sz="700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위치 이력 조회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3384399" y="5731036"/>
            <a:ext cx="2687493" cy="23336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3489791" y="5791260"/>
            <a:ext cx="2611084" cy="11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SCR-008</a:t>
            </a:r>
            <a:r>
              <a:rPr lang="en-US" sz="700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가족 채팅방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6117060" y="5731036"/>
            <a:ext cx="2687493" cy="23336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222452" y="5791260"/>
            <a:ext cx="2611084" cy="11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SCR-009</a:t>
            </a:r>
            <a:r>
              <a:rPr lang="en-US" sz="700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안전 구역 설정 (지오펜싱)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3384399" y="6009572"/>
            <a:ext cx="2687493" cy="23336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3489791" y="6069796"/>
            <a:ext cx="2611084" cy="11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SCR-010</a:t>
            </a:r>
            <a:r>
              <a:rPr lang="en-US" sz="700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가족 설정 (구성원·알림·계정)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6117060" y="6009572"/>
            <a:ext cx="2687493" cy="23336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6222452" y="6069796"/>
            <a:ext cx="2611084" cy="11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SCR-011</a:t>
            </a:r>
            <a:r>
              <a:rPr lang="en-US" sz="700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관리자 - 회원 및 그룹 관리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3384399" y="6288108"/>
            <a:ext cx="2687493" cy="23336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3489791" y="6348331"/>
            <a:ext cx="2611084" cy="11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SCR-012</a:t>
            </a:r>
            <a:r>
              <a:rPr lang="en-US" sz="700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관리자 - SMS/알림톡 발송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6117060" y="6288108"/>
            <a:ext cx="2687493" cy="23336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6222452" y="6348331"/>
            <a:ext cx="2611084" cy="11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SCR-013</a:t>
            </a:r>
            <a:r>
              <a:rPr lang="en-US" sz="700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관리자 - 통계 대시보드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0102" y="57062"/>
            <a:ext cx="9928748" cy="52068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79889" y="238946"/>
            <a:ext cx="539858" cy="156920"/>
          </a:xfrm>
          <a:prstGeom prst="rect">
            <a:avLst/>
          </a:prstGeom>
          <a:solidFill>
            <a:srgbClr val="E9ECEF"/>
          </a:solidFill>
          <a:ln w="7620">
            <a:solidFill>
              <a:srgbClr val="CED4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365482" y="260344"/>
            <a:ext cx="449651" cy="11412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SCR-001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1990932" y="213982"/>
            <a:ext cx="370784" cy="92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1990932" y="328105"/>
            <a:ext cx="370784" cy="128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2598662" y="224681"/>
            <a:ext cx="317211" cy="92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Route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2598662" y="338804"/>
            <a:ext cx="482161" cy="1069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 (login 탭)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3303242" y="224681"/>
            <a:ext cx="361685" cy="92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Status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3303242" y="338804"/>
            <a:ext cx="890370" cy="1069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 완료 (실제 화면)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130102" y="577750"/>
            <a:ext cx="6505042" cy="6109064"/>
          </a:xfrm>
          <a:prstGeom prst="rect">
            <a:avLst/>
          </a:prstGeom>
          <a:solidFill>
            <a:srgbClr val="FFFFFF"/>
          </a:solidFill>
          <a:ln w="7620">
            <a:solidFill>
              <a:srgbClr val="DEE2E6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7406" y="584883"/>
            <a:ext cx="2710434" cy="6094799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806329" y="577750"/>
            <a:ext cx="3423706" cy="559918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934718" y="691874"/>
            <a:ext cx="3658373" cy="1141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12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Description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7938284" y="880891"/>
            <a:ext cx="273941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009612" y="937953"/>
            <a:ext cx="172378" cy="998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No.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8212226" y="880891"/>
            <a:ext cx="427963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83553" y="937953"/>
            <a:ext cx="285309" cy="9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영역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8640189" y="880891"/>
            <a:ext cx="483688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711516" y="937953"/>
            <a:ext cx="341033" cy="9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요소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9123876" y="880891"/>
            <a:ext cx="1988469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195204" y="937953"/>
            <a:ext cx="1845815" cy="9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7938284" y="1094873"/>
            <a:ext cx="273941" cy="634812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009612" y="1151934"/>
            <a:ext cx="172378" cy="5206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8212226" y="1094873"/>
            <a:ext cx="427963" cy="634812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83553" y="1151934"/>
            <a:ext cx="285309" cy="520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헤더 영역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8640189" y="1094873"/>
            <a:ext cx="483688" cy="634812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11516" y="1151934"/>
            <a:ext cx="341033" cy="520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브랜드 헤더</a:t>
            </a:r>
            <a:endParaRPr lang="en-US" sz="700" dirty="0"/>
          </a:p>
        </p:txBody>
      </p:sp>
      <p:sp>
        <p:nvSpPr>
          <p:cNvPr id="29" name="Shape 26"/>
          <p:cNvSpPr/>
          <p:nvPr/>
        </p:nvSpPr>
        <p:spPr>
          <a:xfrm>
            <a:off x="9123876" y="1094873"/>
            <a:ext cx="1988469" cy="634812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195204" y="1151934"/>
            <a:ext cx="1845815" cy="520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안심맵 로고와 서비스명 '부모님 위치 확인 서비스'.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노출조건: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앱 진입 시 항상 표시.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로고 SVG + 서비스명 텍스트 렌더링.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7938284" y="1729685"/>
            <a:ext cx="273941" cy="891590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009612" y="1786747"/>
            <a:ext cx="172378" cy="7774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8212226" y="1729685"/>
            <a:ext cx="427963" cy="891590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283553" y="1786747"/>
            <a:ext cx="285309" cy="7774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탭 영역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8640189" y="1729685"/>
            <a:ext cx="483688" cy="891590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711516" y="1786747"/>
            <a:ext cx="341033" cy="7774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로그인/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회원가입 탭</a:t>
            </a:r>
            <a:endParaRPr lang="en-US" sz="700" dirty="0"/>
          </a:p>
        </p:txBody>
      </p:sp>
      <p:sp>
        <p:nvSpPr>
          <p:cNvPr id="37" name="Shape 34"/>
          <p:cNvSpPr/>
          <p:nvPr/>
        </p:nvSpPr>
        <p:spPr>
          <a:xfrm>
            <a:off x="9123876" y="1729685"/>
            <a:ext cx="1988469" cy="891590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195204" y="1786747"/>
            <a:ext cx="1845815" cy="7774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로그인·회원가입 모드 전환 세그먼트 탭. 기본 로그인.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탭 클릭으로 모드 전환.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선택 탭 흰색 active 스타일.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인터랙션: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전환 시 하단 폼 페이드-인/아웃.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예외 Case: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전환 시 입력값 초기화.</a:t>
            </a:r>
            <a:endParaRPr lang="en-US" sz="700" dirty="0"/>
          </a:p>
        </p:txBody>
      </p:sp>
      <p:sp>
        <p:nvSpPr>
          <p:cNvPr id="39" name="Shape 36"/>
          <p:cNvSpPr/>
          <p:nvPr/>
        </p:nvSpPr>
        <p:spPr>
          <a:xfrm>
            <a:off x="7938284" y="2621275"/>
            <a:ext cx="273941" cy="891590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009612" y="2678337"/>
            <a:ext cx="172378" cy="7774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41" name="Shape 38"/>
          <p:cNvSpPr/>
          <p:nvPr/>
        </p:nvSpPr>
        <p:spPr>
          <a:xfrm>
            <a:off x="8212226" y="2621275"/>
            <a:ext cx="427963" cy="891590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83553" y="2678337"/>
            <a:ext cx="285309" cy="7774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폼 영역</a:t>
            </a:r>
            <a:endParaRPr lang="en-US" sz="700" dirty="0"/>
          </a:p>
        </p:txBody>
      </p:sp>
      <p:sp>
        <p:nvSpPr>
          <p:cNvPr id="43" name="Shape 40"/>
          <p:cNvSpPr/>
          <p:nvPr/>
        </p:nvSpPr>
        <p:spPr>
          <a:xfrm>
            <a:off x="8640189" y="2621275"/>
            <a:ext cx="483688" cy="891590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711516" y="2678337"/>
            <a:ext cx="341033" cy="7774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휴대폰 번호 입력</a:t>
            </a:r>
            <a:endParaRPr lang="en-US" sz="700" dirty="0"/>
          </a:p>
        </p:txBody>
      </p:sp>
      <p:sp>
        <p:nvSpPr>
          <p:cNvPr id="45" name="Shape 42"/>
          <p:cNvSpPr/>
          <p:nvPr/>
        </p:nvSpPr>
        <p:spPr>
          <a:xfrm>
            <a:off x="9123876" y="2621275"/>
            <a:ext cx="1988469" cy="891590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195204" y="2678337"/>
            <a:ext cx="1845815" cy="7774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 식별자. 자동 하이픈 포맷.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숫자 11자리(010 시작), 자동 '-' 삽입.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010-XXXX-XXXX.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예외 Case: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형식 오류 시 필드 하단 에러 메시지.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 연동: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POST /api/auth/login { phone }.</a:t>
            </a:r>
            <a:endParaRPr lang="en-US" sz="700" dirty="0"/>
          </a:p>
        </p:txBody>
      </p:sp>
      <p:sp>
        <p:nvSpPr>
          <p:cNvPr id="47" name="Shape 44"/>
          <p:cNvSpPr/>
          <p:nvPr/>
        </p:nvSpPr>
        <p:spPr>
          <a:xfrm>
            <a:off x="7938284" y="3512865"/>
            <a:ext cx="273941" cy="506423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8009612" y="3569927"/>
            <a:ext cx="172378" cy="392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  <p:sp>
        <p:nvSpPr>
          <p:cNvPr id="49" name="Shape 46"/>
          <p:cNvSpPr/>
          <p:nvPr/>
        </p:nvSpPr>
        <p:spPr>
          <a:xfrm>
            <a:off x="8212226" y="3512865"/>
            <a:ext cx="427963" cy="506423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283553" y="3569927"/>
            <a:ext cx="285309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배너 영역</a:t>
            </a:r>
            <a:endParaRPr lang="en-US" sz="700" dirty="0"/>
          </a:p>
        </p:txBody>
      </p:sp>
      <p:sp>
        <p:nvSpPr>
          <p:cNvPr id="51" name="Shape 48"/>
          <p:cNvSpPr/>
          <p:nvPr/>
        </p:nvSpPr>
        <p:spPr>
          <a:xfrm>
            <a:off x="8640189" y="3512865"/>
            <a:ext cx="483688" cy="506423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711516" y="3569927"/>
            <a:ext cx="341033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 안내 배너</a:t>
            </a:r>
            <a:endParaRPr lang="en-US" sz="700" dirty="0"/>
          </a:p>
        </p:txBody>
      </p:sp>
      <p:sp>
        <p:nvSpPr>
          <p:cNvPr id="53" name="Shape 50"/>
          <p:cNvSpPr/>
          <p:nvPr/>
        </p:nvSpPr>
        <p:spPr>
          <a:xfrm>
            <a:off x="9123876" y="3512865"/>
            <a:ext cx="1988469" cy="506423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9195204" y="3569927"/>
            <a:ext cx="1845815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미가입 번호 안내. 회원가입 유도.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노출조건: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로그인 탭 선택 시만 표시.</a:t>
            </a:r>
            <a:endParaRPr lang="en-US" sz="700" dirty="0"/>
          </a:p>
        </p:txBody>
      </p:sp>
      <p:sp>
        <p:nvSpPr>
          <p:cNvPr id="55" name="Shape 52"/>
          <p:cNvSpPr/>
          <p:nvPr/>
        </p:nvSpPr>
        <p:spPr>
          <a:xfrm>
            <a:off x="7938284" y="4019288"/>
            <a:ext cx="273941" cy="1276757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8009612" y="4076350"/>
            <a:ext cx="172378" cy="11626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700" dirty="0"/>
          </a:p>
        </p:txBody>
      </p:sp>
      <p:sp>
        <p:nvSpPr>
          <p:cNvPr id="57" name="Shape 54"/>
          <p:cNvSpPr/>
          <p:nvPr/>
        </p:nvSpPr>
        <p:spPr>
          <a:xfrm>
            <a:off x="8212226" y="4019288"/>
            <a:ext cx="427963" cy="1276757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8283553" y="4076350"/>
            <a:ext cx="285309" cy="11626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CTA 영역</a:t>
            </a:r>
            <a:endParaRPr lang="en-US" sz="700" dirty="0"/>
          </a:p>
        </p:txBody>
      </p:sp>
      <p:sp>
        <p:nvSpPr>
          <p:cNvPr id="59" name="Shape 56"/>
          <p:cNvSpPr/>
          <p:nvPr/>
        </p:nvSpPr>
        <p:spPr>
          <a:xfrm>
            <a:off x="8640189" y="4019288"/>
            <a:ext cx="483688" cy="1276757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8711516" y="4076350"/>
            <a:ext cx="341033" cy="11626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시작하기 버튼</a:t>
            </a:r>
            <a:endParaRPr lang="en-US" sz="700" dirty="0"/>
          </a:p>
        </p:txBody>
      </p:sp>
      <p:sp>
        <p:nvSpPr>
          <p:cNvPr id="61" name="Shape 58"/>
          <p:cNvSpPr/>
          <p:nvPr/>
        </p:nvSpPr>
        <p:spPr>
          <a:xfrm>
            <a:off x="9123876" y="4019288"/>
            <a:ext cx="1988469" cy="1276757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9195204" y="4076350"/>
            <a:ext cx="1845815" cy="11626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 실행 기본 CTA.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번호 10자리 이상 시 활성. 처리 중 '처리 중…'.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예외 Case: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미가입/오류 시 상단 danger 배너.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화면 연동: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로그인 성공 사용자 활동이 관리자 통계 대시보드 DAU에 집계.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 연동: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POST /api/auth/login → JWT 발급, GET /api/auth/me.</a:t>
            </a:r>
            <a:endParaRPr lang="en-US" sz="700" dirty="0"/>
          </a:p>
        </p:txBody>
      </p:sp>
      <p:sp>
        <p:nvSpPr>
          <p:cNvPr id="63" name="Shape 60"/>
          <p:cNvSpPr/>
          <p:nvPr/>
        </p:nvSpPr>
        <p:spPr>
          <a:xfrm>
            <a:off x="7938284" y="5296046"/>
            <a:ext cx="273941" cy="763201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009612" y="5353107"/>
            <a:ext cx="172378" cy="6490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700" dirty="0"/>
          </a:p>
        </p:txBody>
      </p:sp>
      <p:sp>
        <p:nvSpPr>
          <p:cNvPr id="65" name="Shape 62"/>
          <p:cNvSpPr/>
          <p:nvPr/>
        </p:nvSpPr>
        <p:spPr>
          <a:xfrm>
            <a:off x="8212226" y="5296046"/>
            <a:ext cx="427963" cy="763201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8283553" y="5353107"/>
            <a:ext cx="285309" cy="64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OAuth 영역</a:t>
            </a:r>
            <a:endParaRPr lang="en-US" sz="700" dirty="0"/>
          </a:p>
        </p:txBody>
      </p:sp>
      <p:sp>
        <p:nvSpPr>
          <p:cNvPr id="67" name="Shape 64"/>
          <p:cNvSpPr/>
          <p:nvPr/>
        </p:nvSpPr>
        <p:spPr>
          <a:xfrm>
            <a:off x="8640189" y="5296046"/>
            <a:ext cx="483688" cy="763201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8711516" y="5353107"/>
            <a:ext cx="341033" cy="64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데모·소셜 로그인</a:t>
            </a:r>
            <a:endParaRPr lang="en-US" sz="700" dirty="0"/>
          </a:p>
        </p:txBody>
      </p:sp>
      <p:sp>
        <p:nvSpPr>
          <p:cNvPr id="69" name="Shape 66"/>
          <p:cNvSpPr/>
          <p:nvPr/>
        </p:nvSpPr>
        <p:spPr>
          <a:xfrm>
            <a:off x="9123876" y="5296046"/>
            <a:ext cx="1988469" cy="763201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9195204" y="5353107"/>
            <a:ext cx="1845815" cy="64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데모 둘러보기 텍스트 버튼 + Google 로그인.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Google 버튼 탭 → OAuth 플로우.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예외 Case: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취소/오류 시 로그인 실패 토스트.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 연동: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POST /api/auth/google { id_token }.</a:t>
            </a:r>
            <a:endParaRPr lang="en-US" sz="700" dirty="0"/>
          </a:p>
        </p:txBody>
      </p:sp>
      <p:sp>
        <p:nvSpPr>
          <p:cNvPr id="71" name="Shape 68"/>
          <p:cNvSpPr/>
          <p:nvPr/>
        </p:nvSpPr>
        <p:spPr>
          <a:xfrm>
            <a:off x="3298449" y="1540668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2" name="Text 69"/>
          <p:cNvSpPr txBox="1"/>
          <p:nvPr/>
        </p:nvSpPr>
        <p:spPr>
          <a:xfrm>
            <a:off x="3298449" y="1540668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73" name="Shape 70"/>
          <p:cNvSpPr/>
          <p:nvPr/>
        </p:nvSpPr>
        <p:spPr>
          <a:xfrm>
            <a:off x="3298449" y="2703301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4" name="Text 71"/>
          <p:cNvSpPr txBox="1"/>
          <p:nvPr/>
        </p:nvSpPr>
        <p:spPr>
          <a:xfrm>
            <a:off x="3298449" y="2703301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75" name="Shape 72"/>
          <p:cNvSpPr/>
          <p:nvPr/>
        </p:nvSpPr>
        <p:spPr>
          <a:xfrm>
            <a:off x="3298449" y="3552095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6" name="Text 73"/>
          <p:cNvSpPr txBox="1"/>
          <p:nvPr/>
        </p:nvSpPr>
        <p:spPr>
          <a:xfrm>
            <a:off x="3298449" y="3552095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77" name="Shape 74"/>
          <p:cNvSpPr/>
          <p:nvPr/>
        </p:nvSpPr>
        <p:spPr>
          <a:xfrm>
            <a:off x="3298449" y="4165509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8" name="Text 75"/>
          <p:cNvSpPr txBox="1"/>
          <p:nvPr/>
        </p:nvSpPr>
        <p:spPr>
          <a:xfrm>
            <a:off x="3298449" y="4165509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  <p:sp>
        <p:nvSpPr>
          <p:cNvPr id="79" name="Shape 76"/>
          <p:cNvSpPr/>
          <p:nvPr/>
        </p:nvSpPr>
        <p:spPr>
          <a:xfrm>
            <a:off x="3298449" y="5321010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80" name="Text 77"/>
          <p:cNvSpPr txBox="1"/>
          <p:nvPr/>
        </p:nvSpPr>
        <p:spPr>
          <a:xfrm>
            <a:off x="3298449" y="5321010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700" dirty="0"/>
          </a:p>
        </p:txBody>
      </p:sp>
      <p:sp>
        <p:nvSpPr>
          <p:cNvPr id="81" name="Shape 78"/>
          <p:cNvSpPr/>
          <p:nvPr/>
        </p:nvSpPr>
        <p:spPr>
          <a:xfrm>
            <a:off x="3298449" y="6233998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82" name="Text 79"/>
          <p:cNvSpPr txBox="1"/>
          <p:nvPr/>
        </p:nvSpPr>
        <p:spPr>
          <a:xfrm>
            <a:off x="3298449" y="6233998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0102" y="57062"/>
            <a:ext cx="9928748" cy="52068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79889" y="238946"/>
            <a:ext cx="539858" cy="156920"/>
          </a:xfrm>
          <a:prstGeom prst="rect">
            <a:avLst/>
          </a:prstGeom>
          <a:solidFill>
            <a:srgbClr val="E9ECEF"/>
          </a:solidFill>
          <a:ln w="7620">
            <a:solidFill>
              <a:srgbClr val="CED4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365482" y="260344"/>
            <a:ext cx="449651" cy="11412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SCR-001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1990932" y="213982"/>
            <a:ext cx="370784" cy="92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1990932" y="328105"/>
            <a:ext cx="425383" cy="128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회원가입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2646140" y="224681"/>
            <a:ext cx="317211" cy="92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Route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2646140" y="338804"/>
            <a:ext cx="618145" cy="1069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 (register 탭)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3468966" y="224681"/>
            <a:ext cx="361685" cy="92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Status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3468966" y="338804"/>
            <a:ext cx="890370" cy="1069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 완료 (실제 화면)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130102" y="577750"/>
            <a:ext cx="6505042" cy="6109064"/>
          </a:xfrm>
          <a:prstGeom prst="rect">
            <a:avLst/>
          </a:prstGeom>
          <a:solidFill>
            <a:srgbClr val="FFFFFF"/>
          </a:solidFill>
          <a:ln w="7620">
            <a:solidFill>
              <a:srgbClr val="DEE2E6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7406" y="584883"/>
            <a:ext cx="2710434" cy="6094799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806329" y="577750"/>
            <a:ext cx="3423706" cy="445081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934718" y="691874"/>
            <a:ext cx="3658373" cy="1141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12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Description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7938284" y="880891"/>
            <a:ext cx="273941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009612" y="937953"/>
            <a:ext cx="172378" cy="998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No.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8212226" y="880891"/>
            <a:ext cx="427963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83553" y="937953"/>
            <a:ext cx="285309" cy="9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영역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8640189" y="880891"/>
            <a:ext cx="473769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711516" y="937953"/>
            <a:ext cx="331114" cy="9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요소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9113957" y="880891"/>
            <a:ext cx="1998388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185285" y="937953"/>
            <a:ext cx="1855733" cy="9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7938284" y="1094873"/>
            <a:ext cx="273941" cy="634812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009612" y="1151934"/>
            <a:ext cx="172378" cy="5206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8212226" y="1094873"/>
            <a:ext cx="427963" cy="634812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83553" y="1151934"/>
            <a:ext cx="285309" cy="520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탭 영역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8640189" y="1094873"/>
            <a:ext cx="473769" cy="634812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11516" y="1151934"/>
            <a:ext cx="331114" cy="520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회원가입 탭</a:t>
            </a:r>
            <a:endParaRPr lang="en-US" sz="700" dirty="0"/>
          </a:p>
        </p:txBody>
      </p:sp>
      <p:sp>
        <p:nvSpPr>
          <p:cNvPr id="29" name="Shape 26"/>
          <p:cNvSpPr/>
          <p:nvPr/>
        </p:nvSpPr>
        <p:spPr>
          <a:xfrm>
            <a:off x="9113957" y="1094873"/>
            <a:ext cx="1998388" cy="634812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185285" y="1151934"/>
            <a:ext cx="1855733" cy="520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회원가입 모드 활성 상태.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탭 클릭으로 전환.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회원가입 탭 active, 역할·약관 영역 노출.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7938284" y="1729685"/>
            <a:ext cx="273941" cy="634812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009612" y="1786747"/>
            <a:ext cx="172378" cy="5206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8212226" y="1729685"/>
            <a:ext cx="427963" cy="634812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283553" y="1786747"/>
            <a:ext cx="285309" cy="520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폼 영역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8640189" y="1729685"/>
            <a:ext cx="473769" cy="634812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711516" y="1786747"/>
            <a:ext cx="331114" cy="520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휴대폰 번호 입력</a:t>
            </a:r>
            <a:endParaRPr lang="en-US" sz="700" dirty="0"/>
          </a:p>
        </p:txBody>
      </p:sp>
      <p:sp>
        <p:nvSpPr>
          <p:cNvPr id="37" name="Shape 34"/>
          <p:cNvSpPr/>
          <p:nvPr/>
        </p:nvSpPr>
        <p:spPr>
          <a:xfrm>
            <a:off x="9113957" y="1729685"/>
            <a:ext cx="1998388" cy="634812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185285" y="1786747"/>
            <a:ext cx="1855733" cy="520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가입 식별자. 자동 하이픈 포맷.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숫자 11자리(010 시작).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예외 Case: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형식 오류 시 에러 메시지.</a:t>
            </a:r>
            <a:endParaRPr lang="en-US" sz="700" dirty="0"/>
          </a:p>
        </p:txBody>
      </p:sp>
      <p:sp>
        <p:nvSpPr>
          <p:cNvPr id="39" name="Shape 36"/>
          <p:cNvSpPr/>
          <p:nvPr/>
        </p:nvSpPr>
        <p:spPr>
          <a:xfrm>
            <a:off x="7938284" y="2364497"/>
            <a:ext cx="273941" cy="763201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009612" y="2421559"/>
            <a:ext cx="172378" cy="6490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41" name="Shape 38"/>
          <p:cNvSpPr/>
          <p:nvPr/>
        </p:nvSpPr>
        <p:spPr>
          <a:xfrm>
            <a:off x="8212226" y="2364497"/>
            <a:ext cx="427963" cy="763201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83553" y="2421559"/>
            <a:ext cx="285309" cy="64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폼 영역</a:t>
            </a:r>
            <a:endParaRPr lang="en-US" sz="700" dirty="0"/>
          </a:p>
        </p:txBody>
      </p:sp>
      <p:sp>
        <p:nvSpPr>
          <p:cNvPr id="43" name="Shape 40"/>
          <p:cNvSpPr/>
          <p:nvPr/>
        </p:nvSpPr>
        <p:spPr>
          <a:xfrm>
            <a:off x="8640189" y="2364497"/>
            <a:ext cx="473769" cy="763201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711516" y="2421559"/>
            <a:ext cx="331114" cy="64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 선택</a:t>
            </a:r>
            <a:endParaRPr lang="en-US" sz="700" dirty="0"/>
          </a:p>
        </p:txBody>
      </p:sp>
      <p:sp>
        <p:nvSpPr>
          <p:cNvPr id="45" name="Shape 42"/>
          <p:cNvSpPr/>
          <p:nvPr/>
        </p:nvSpPr>
        <p:spPr>
          <a:xfrm>
            <a:off x="9113957" y="2364497"/>
            <a:ext cx="1998388" cy="763201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185285" y="2421559"/>
            <a:ext cx="1855733" cy="64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부모님 / 가족 자녀 단일 선택 라디오 카드.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단일 선택 필수. 기본 미선택.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선택 카드 green active 테두리.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예외 Case: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미선택 시 CTA 비활성.</a:t>
            </a:r>
            <a:endParaRPr lang="en-US" sz="700" dirty="0"/>
          </a:p>
        </p:txBody>
      </p:sp>
      <p:sp>
        <p:nvSpPr>
          <p:cNvPr id="47" name="Shape 44"/>
          <p:cNvSpPr/>
          <p:nvPr/>
        </p:nvSpPr>
        <p:spPr>
          <a:xfrm>
            <a:off x="7938284" y="3127698"/>
            <a:ext cx="273941" cy="763201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8009612" y="3184760"/>
            <a:ext cx="172378" cy="6490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  <p:sp>
        <p:nvSpPr>
          <p:cNvPr id="49" name="Shape 46"/>
          <p:cNvSpPr/>
          <p:nvPr/>
        </p:nvSpPr>
        <p:spPr>
          <a:xfrm>
            <a:off x="8212226" y="3127698"/>
            <a:ext cx="427963" cy="763201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283553" y="3184760"/>
            <a:ext cx="285309" cy="64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폼 영역</a:t>
            </a:r>
            <a:endParaRPr lang="en-US" sz="700" dirty="0"/>
          </a:p>
        </p:txBody>
      </p:sp>
      <p:sp>
        <p:nvSpPr>
          <p:cNvPr id="51" name="Shape 48"/>
          <p:cNvSpPr/>
          <p:nvPr/>
        </p:nvSpPr>
        <p:spPr>
          <a:xfrm>
            <a:off x="8640189" y="3127698"/>
            <a:ext cx="473769" cy="763201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711516" y="3184760"/>
            <a:ext cx="331114" cy="64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약관 동의</a:t>
            </a:r>
            <a:endParaRPr lang="en-US" sz="700" dirty="0"/>
          </a:p>
        </p:txBody>
      </p:sp>
      <p:sp>
        <p:nvSpPr>
          <p:cNvPr id="53" name="Shape 50"/>
          <p:cNvSpPr/>
          <p:nvPr/>
        </p:nvSpPr>
        <p:spPr>
          <a:xfrm>
            <a:off x="9113957" y="3127698"/>
            <a:ext cx="1998388" cy="763201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9185285" y="3184760"/>
            <a:ext cx="1855733" cy="64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[필수] 개인정보처리방침 동의 체크 + 보기.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체크박스 동의/철회.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동의 시 CTA 활성.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예외 Case: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미동의 시 CTA 비활성.</a:t>
            </a:r>
            <a:endParaRPr lang="en-US" sz="700" dirty="0"/>
          </a:p>
        </p:txBody>
      </p:sp>
      <p:sp>
        <p:nvSpPr>
          <p:cNvPr id="55" name="Shape 52"/>
          <p:cNvSpPr/>
          <p:nvPr/>
        </p:nvSpPr>
        <p:spPr>
          <a:xfrm>
            <a:off x="7938284" y="3890899"/>
            <a:ext cx="273941" cy="101997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8009612" y="3947961"/>
            <a:ext cx="172378" cy="9058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700" dirty="0"/>
          </a:p>
        </p:txBody>
      </p:sp>
      <p:sp>
        <p:nvSpPr>
          <p:cNvPr id="57" name="Shape 54"/>
          <p:cNvSpPr/>
          <p:nvPr/>
        </p:nvSpPr>
        <p:spPr>
          <a:xfrm>
            <a:off x="8212226" y="3890899"/>
            <a:ext cx="427963" cy="101997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8283553" y="3947961"/>
            <a:ext cx="285309" cy="905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CTA 영역</a:t>
            </a:r>
            <a:endParaRPr lang="en-US" sz="700" dirty="0"/>
          </a:p>
        </p:txBody>
      </p:sp>
      <p:sp>
        <p:nvSpPr>
          <p:cNvPr id="59" name="Shape 56"/>
          <p:cNvSpPr/>
          <p:nvPr/>
        </p:nvSpPr>
        <p:spPr>
          <a:xfrm>
            <a:off x="8640189" y="3890899"/>
            <a:ext cx="473769" cy="101997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8711516" y="3947961"/>
            <a:ext cx="331114" cy="905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동의하고 시작하기</a:t>
            </a:r>
            <a:endParaRPr lang="en-US" sz="700" dirty="0"/>
          </a:p>
        </p:txBody>
      </p:sp>
      <p:sp>
        <p:nvSpPr>
          <p:cNvPr id="61" name="Shape 58"/>
          <p:cNvSpPr/>
          <p:nvPr/>
        </p:nvSpPr>
        <p:spPr>
          <a:xfrm>
            <a:off x="9113957" y="3890899"/>
            <a:ext cx="1998388" cy="101997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9185285" y="3947961"/>
            <a:ext cx="1855733" cy="905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회원가입 실행 CTA.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번호·역할·동의 충족 시 활성.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화면 연동: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가입 완료 시 관리자 '회원 및 그룹 관리' 목록에 신규 회원 자동 등록.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 연동: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POST /api/auth/register { phone, role, consent }.</a:t>
            </a:r>
            <a:endParaRPr lang="en-US" sz="700" dirty="0"/>
          </a:p>
        </p:txBody>
      </p:sp>
      <p:sp>
        <p:nvSpPr>
          <p:cNvPr id="63" name="Shape 60"/>
          <p:cNvSpPr/>
          <p:nvPr/>
        </p:nvSpPr>
        <p:spPr>
          <a:xfrm>
            <a:off x="3298449" y="2824558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64" name="Text 61"/>
          <p:cNvSpPr txBox="1"/>
          <p:nvPr/>
        </p:nvSpPr>
        <p:spPr>
          <a:xfrm>
            <a:off x="3298449" y="2824558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65" name="Shape 62"/>
          <p:cNvSpPr/>
          <p:nvPr/>
        </p:nvSpPr>
        <p:spPr>
          <a:xfrm>
            <a:off x="3298449" y="3673351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66" name="Text 63"/>
          <p:cNvSpPr txBox="1"/>
          <p:nvPr/>
        </p:nvSpPr>
        <p:spPr>
          <a:xfrm>
            <a:off x="3298449" y="3673351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67" name="Shape 64"/>
          <p:cNvSpPr/>
          <p:nvPr/>
        </p:nvSpPr>
        <p:spPr>
          <a:xfrm>
            <a:off x="3298449" y="4529278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68" name="Text 65"/>
          <p:cNvSpPr txBox="1"/>
          <p:nvPr/>
        </p:nvSpPr>
        <p:spPr>
          <a:xfrm>
            <a:off x="3298449" y="4529278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69" name="Shape 66"/>
          <p:cNvSpPr/>
          <p:nvPr/>
        </p:nvSpPr>
        <p:spPr>
          <a:xfrm>
            <a:off x="3298449" y="5321010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0" name="Text 67"/>
          <p:cNvSpPr txBox="1"/>
          <p:nvPr/>
        </p:nvSpPr>
        <p:spPr>
          <a:xfrm>
            <a:off x="3298449" y="5321010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  <p:sp>
        <p:nvSpPr>
          <p:cNvPr id="71" name="Shape 68"/>
          <p:cNvSpPr/>
          <p:nvPr/>
        </p:nvSpPr>
        <p:spPr>
          <a:xfrm>
            <a:off x="3298449" y="5934424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2" name="Text 69"/>
          <p:cNvSpPr txBox="1"/>
          <p:nvPr/>
        </p:nvSpPr>
        <p:spPr>
          <a:xfrm>
            <a:off x="3298449" y="5934424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0102" y="57062"/>
            <a:ext cx="9928748" cy="52068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79889" y="238946"/>
            <a:ext cx="552117" cy="156920"/>
          </a:xfrm>
          <a:prstGeom prst="rect">
            <a:avLst/>
          </a:prstGeom>
          <a:solidFill>
            <a:srgbClr val="E9ECEF"/>
          </a:solidFill>
          <a:ln w="7620">
            <a:solidFill>
              <a:srgbClr val="CED4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365482" y="260344"/>
            <a:ext cx="463749" cy="11412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SCR-002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2003192" y="213982"/>
            <a:ext cx="370784" cy="92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2003192" y="328105"/>
            <a:ext cx="951377" cy="128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온보딩 1단계 (환영)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3115785" y="224681"/>
            <a:ext cx="317211" cy="92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Route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3115785" y="338804"/>
            <a:ext cx="959964" cy="1069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 (onboarding step1)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4235845" y="224681"/>
            <a:ext cx="361685" cy="92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Status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4235845" y="338804"/>
            <a:ext cx="890370" cy="1069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 완료 (실제 화면)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130102" y="577750"/>
            <a:ext cx="6505042" cy="6109064"/>
          </a:xfrm>
          <a:prstGeom prst="rect">
            <a:avLst/>
          </a:prstGeom>
          <a:solidFill>
            <a:srgbClr val="FFFFFF"/>
          </a:solidFill>
          <a:ln w="7620">
            <a:solidFill>
              <a:srgbClr val="DEE2E6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7406" y="584883"/>
            <a:ext cx="2710434" cy="6094799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806329" y="577750"/>
            <a:ext cx="3423706" cy="327391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934718" y="691874"/>
            <a:ext cx="3658373" cy="1141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12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Description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7938284" y="880891"/>
            <a:ext cx="273941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009612" y="937953"/>
            <a:ext cx="172378" cy="998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No.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8212226" y="880891"/>
            <a:ext cx="427963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83553" y="937953"/>
            <a:ext cx="285309" cy="9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영역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8640189" y="880891"/>
            <a:ext cx="683070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711516" y="937953"/>
            <a:ext cx="540415" cy="9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요소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9323258" y="880891"/>
            <a:ext cx="1789087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394585" y="937953"/>
            <a:ext cx="1646433" cy="9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7938284" y="1094873"/>
            <a:ext cx="273941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009612" y="1151934"/>
            <a:ext cx="172378" cy="392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8212226" y="1094873"/>
            <a:ext cx="427963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83553" y="1151934"/>
            <a:ext cx="285309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헤더 영역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8640189" y="1094873"/>
            <a:ext cx="683070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11516" y="1151934"/>
            <a:ext cx="540415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온보딩 헤더</a:t>
            </a:r>
            <a:endParaRPr lang="en-US" sz="700" dirty="0"/>
          </a:p>
        </p:txBody>
      </p:sp>
      <p:sp>
        <p:nvSpPr>
          <p:cNvPr id="29" name="Shape 26"/>
          <p:cNvSpPr/>
          <p:nvPr/>
        </p:nvSpPr>
        <p:spPr>
          <a:xfrm>
            <a:off x="9323258" y="1094873"/>
            <a:ext cx="1789087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394585" y="1151934"/>
            <a:ext cx="1646433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'안심맵 온보딩' 타이틀. 1단계는 뒤로가기 없음.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노출조건: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온보딩 전 단계 표시.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7938284" y="1601296"/>
            <a:ext cx="273941" cy="763201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009612" y="1658358"/>
            <a:ext cx="172378" cy="6490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8212226" y="1601296"/>
            <a:ext cx="427963" cy="763201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283553" y="1658358"/>
            <a:ext cx="285309" cy="64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 영역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8640189" y="1601296"/>
            <a:ext cx="683070" cy="763201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711516" y="1658358"/>
            <a:ext cx="540415" cy="64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표시 (N/4)</a:t>
            </a:r>
            <a:endParaRPr lang="en-US" sz="700" dirty="0"/>
          </a:p>
        </p:txBody>
      </p:sp>
      <p:sp>
        <p:nvSpPr>
          <p:cNvPr id="37" name="Shape 34"/>
          <p:cNvSpPr/>
          <p:nvPr/>
        </p:nvSpPr>
        <p:spPr>
          <a:xfrm>
            <a:off x="9323258" y="1601296"/>
            <a:ext cx="1789087" cy="763201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394585" y="1658358"/>
            <a:ext cx="1646433" cy="64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단계 Pill + 4분할 진행 바.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현재 단계까지 brand 색 채움.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인터랙션: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단계 전환 시 바 채움 애니메이션(0.3s).</a:t>
            </a:r>
            <a:endParaRPr lang="en-US" sz="700" dirty="0"/>
          </a:p>
        </p:txBody>
      </p:sp>
      <p:sp>
        <p:nvSpPr>
          <p:cNvPr id="39" name="Shape 36"/>
          <p:cNvSpPr/>
          <p:nvPr/>
        </p:nvSpPr>
        <p:spPr>
          <a:xfrm>
            <a:off x="7938284" y="2364497"/>
            <a:ext cx="273941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009612" y="2421559"/>
            <a:ext cx="172378" cy="392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41" name="Shape 38"/>
          <p:cNvSpPr/>
          <p:nvPr/>
        </p:nvSpPr>
        <p:spPr>
          <a:xfrm>
            <a:off x="8212226" y="2364497"/>
            <a:ext cx="427963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83553" y="2421559"/>
            <a:ext cx="285309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본문 영역</a:t>
            </a:r>
            <a:endParaRPr lang="en-US" sz="700" dirty="0"/>
          </a:p>
        </p:txBody>
      </p:sp>
      <p:sp>
        <p:nvSpPr>
          <p:cNvPr id="43" name="Shape 40"/>
          <p:cNvSpPr/>
          <p:nvPr/>
        </p:nvSpPr>
        <p:spPr>
          <a:xfrm>
            <a:off x="8640189" y="2364497"/>
            <a:ext cx="683070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711516" y="2421559"/>
            <a:ext cx="540415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환영 일러스트</a:t>
            </a:r>
            <a:endParaRPr lang="en-US" sz="700" dirty="0"/>
          </a:p>
        </p:txBody>
      </p:sp>
      <p:sp>
        <p:nvSpPr>
          <p:cNvPr id="45" name="Shape 42"/>
          <p:cNvSpPr/>
          <p:nvPr/>
        </p:nvSpPr>
        <p:spPr>
          <a:xfrm>
            <a:off x="9323258" y="2364497"/>
            <a:ext cx="1789087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394585" y="2421559"/>
            <a:ext cx="1646433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시니어 친화 이모지 + 환영 문구.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노출조건: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1단계에서만 표시.</a:t>
            </a:r>
            <a:endParaRPr lang="en-US" sz="700" dirty="0"/>
          </a:p>
        </p:txBody>
      </p:sp>
      <p:sp>
        <p:nvSpPr>
          <p:cNvPr id="47" name="Shape 44"/>
          <p:cNvSpPr/>
          <p:nvPr/>
        </p:nvSpPr>
        <p:spPr>
          <a:xfrm>
            <a:off x="7938284" y="2870920"/>
            <a:ext cx="273941" cy="356636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8009612" y="2927982"/>
            <a:ext cx="172378" cy="2425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  <p:sp>
        <p:nvSpPr>
          <p:cNvPr id="49" name="Shape 46"/>
          <p:cNvSpPr/>
          <p:nvPr/>
        </p:nvSpPr>
        <p:spPr>
          <a:xfrm>
            <a:off x="8212226" y="2870920"/>
            <a:ext cx="427963" cy="356636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283553" y="2927982"/>
            <a:ext cx="285309" cy="242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본문 영역</a:t>
            </a:r>
            <a:endParaRPr lang="en-US" sz="700" dirty="0"/>
          </a:p>
        </p:txBody>
      </p:sp>
      <p:sp>
        <p:nvSpPr>
          <p:cNvPr id="51" name="Shape 48"/>
          <p:cNvSpPr/>
          <p:nvPr/>
        </p:nvSpPr>
        <p:spPr>
          <a:xfrm>
            <a:off x="8640189" y="2870920"/>
            <a:ext cx="683070" cy="356636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711516" y="2927982"/>
            <a:ext cx="540415" cy="242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안내 문구</a:t>
            </a:r>
            <a:endParaRPr lang="en-US" sz="700" dirty="0"/>
          </a:p>
        </p:txBody>
      </p:sp>
      <p:sp>
        <p:nvSpPr>
          <p:cNvPr id="53" name="Shape 50"/>
          <p:cNvSpPr/>
          <p:nvPr/>
        </p:nvSpPr>
        <p:spPr>
          <a:xfrm>
            <a:off x="9323258" y="2870920"/>
            <a:ext cx="1789087" cy="356636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9394585" y="2927982"/>
            <a:ext cx="1646433" cy="242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 공유 목적·소요 단계(4단계) 안내.</a:t>
            </a:r>
            <a:endParaRPr lang="en-US" sz="700" dirty="0"/>
          </a:p>
        </p:txBody>
      </p:sp>
      <p:sp>
        <p:nvSpPr>
          <p:cNvPr id="55" name="Shape 52"/>
          <p:cNvSpPr/>
          <p:nvPr/>
        </p:nvSpPr>
        <p:spPr>
          <a:xfrm>
            <a:off x="7938284" y="3227556"/>
            <a:ext cx="273941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8009612" y="3284618"/>
            <a:ext cx="172378" cy="392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700" dirty="0"/>
          </a:p>
        </p:txBody>
      </p:sp>
      <p:sp>
        <p:nvSpPr>
          <p:cNvPr id="57" name="Shape 54"/>
          <p:cNvSpPr/>
          <p:nvPr/>
        </p:nvSpPr>
        <p:spPr>
          <a:xfrm>
            <a:off x="8212226" y="3227556"/>
            <a:ext cx="427963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8283553" y="3284618"/>
            <a:ext cx="285309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CTA 영역</a:t>
            </a:r>
            <a:endParaRPr lang="en-US" sz="700" dirty="0"/>
          </a:p>
        </p:txBody>
      </p:sp>
      <p:sp>
        <p:nvSpPr>
          <p:cNvPr id="59" name="Shape 56"/>
          <p:cNvSpPr/>
          <p:nvPr/>
        </p:nvSpPr>
        <p:spPr>
          <a:xfrm>
            <a:off x="8640189" y="3227556"/>
            <a:ext cx="683070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8711516" y="3284618"/>
            <a:ext cx="540415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시작하기 버튼</a:t>
            </a:r>
            <a:endParaRPr lang="en-US" sz="700" dirty="0"/>
          </a:p>
        </p:txBody>
      </p:sp>
      <p:sp>
        <p:nvSpPr>
          <p:cNvPr id="61" name="Shape 58"/>
          <p:cNvSpPr/>
          <p:nvPr/>
        </p:nvSpPr>
        <p:spPr>
          <a:xfrm>
            <a:off x="9323258" y="3227556"/>
            <a:ext cx="1789087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9394585" y="3284618"/>
            <a:ext cx="1646433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2단계로 진행.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인터랙션: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탭 시 다음 단계 슬라이드-인.</a:t>
            </a:r>
            <a:endParaRPr lang="en-US" sz="700" dirty="0"/>
          </a:p>
        </p:txBody>
      </p:sp>
      <p:sp>
        <p:nvSpPr>
          <p:cNvPr id="63" name="Shape 60"/>
          <p:cNvSpPr/>
          <p:nvPr/>
        </p:nvSpPr>
        <p:spPr>
          <a:xfrm>
            <a:off x="3298449" y="1055643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64" name="Text 61"/>
          <p:cNvSpPr txBox="1"/>
          <p:nvPr/>
        </p:nvSpPr>
        <p:spPr>
          <a:xfrm>
            <a:off x="3298449" y="1055643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65" name="Shape 62"/>
          <p:cNvSpPr/>
          <p:nvPr/>
        </p:nvSpPr>
        <p:spPr>
          <a:xfrm>
            <a:off x="4518145" y="1055643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66" name="Text 63"/>
          <p:cNvSpPr txBox="1"/>
          <p:nvPr/>
        </p:nvSpPr>
        <p:spPr>
          <a:xfrm>
            <a:off x="4518145" y="1055643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67" name="Shape 64"/>
          <p:cNvSpPr/>
          <p:nvPr/>
        </p:nvSpPr>
        <p:spPr>
          <a:xfrm>
            <a:off x="3298449" y="1483606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68" name="Text 65"/>
          <p:cNvSpPr txBox="1"/>
          <p:nvPr/>
        </p:nvSpPr>
        <p:spPr>
          <a:xfrm>
            <a:off x="3298449" y="1483606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69" name="Shape 66"/>
          <p:cNvSpPr/>
          <p:nvPr/>
        </p:nvSpPr>
        <p:spPr>
          <a:xfrm>
            <a:off x="3298449" y="2703301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0" name="Text 67"/>
          <p:cNvSpPr txBox="1"/>
          <p:nvPr/>
        </p:nvSpPr>
        <p:spPr>
          <a:xfrm>
            <a:off x="3298449" y="2703301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  <p:sp>
        <p:nvSpPr>
          <p:cNvPr id="71" name="Shape 68"/>
          <p:cNvSpPr/>
          <p:nvPr/>
        </p:nvSpPr>
        <p:spPr>
          <a:xfrm>
            <a:off x="3298449" y="6112742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2" name="Text 69"/>
          <p:cNvSpPr txBox="1"/>
          <p:nvPr/>
        </p:nvSpPr>
        <p:spPr>
          <a:xfrm>
            <a:off x="3298449" y="6112742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0102" y="57062"/>
            <a:ext cx="9928748" cy="52068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79889" y="238946"/>
            <a:ext cx="552117" cy="156920"/>
          </a:xfrm>
          <a:prstGeom prst="rect">
            <a:avLst/>
          </a:prstGeom>
          <a:solidFill>
            <a:srgbClr val="E9ECEF"/>
          </a:solidFill>
          <a:ln w="7620">
            <a:solidFill>
              <a:srgbClr val="CED4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365482" y="260344"/>
            <a:ext cx="463749" cy="11412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SCR-002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2003192" y="213982"/>
            <a:ext cx="370784" cy="92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2003192" y="328105"/>
            <a:ext cx="1210913" cy="128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온보딩 2단계 (초대 코드)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3341469" y="224681"/>
            <a:ext cx="317211" cy="92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Route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3341469" y="338804"/>
            <a:ext cx="975857" cy="1069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 (onboarding step2)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4475348" y="224681"/>
            <a:ext cx="361685" cy="92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Status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4475348" y="338804"/>
            <a:ext cx="890370" cy="1069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 완료 (실제 화면)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130102" y="577750"/>
            <a:ext cx="6505042" cy="6109064"/>
          </a:xfrm>
          <a:prstGeom prst="rect">
            <a:avLst/>
          </a:prstGeom>
          <a:solidFill>
            <a:srgbClr val="FFFFFF"/>
          </a:solidFill>
          <a:ln w="7620">
            <a:solidFill>
              <a:srgbClr val="DEE2E6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7406" y="584883"/>
            <a:ext cx="2710434" cy="6094799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806329" y="577750"/>
            <a:ext cx="3423706" cy="34237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934718" y="691874"/>
            <a:ext cx="3658373" cy="1141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12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Description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7938284" y="880891"/>
            <a:ext cx="273941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009612" y="937953"/>
            <a:ext cx="172378" cy="998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No.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8212226" y="880891"/>
            <a:ext cx="427963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83553" y="937953"/>
            <a:ext cx="285309" cy="9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영역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8640189" y="880891"/>
            <a:ext cx="439442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711516" y="937953"/>
            <a:ext cx="296788" cy="9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요소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9079631" y="880891"/>
            <a:ext cx="2032714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150958" y="937953"/>
            <a:ext cx="1890060" cy="9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7938284" y="1094873"/>
            <a:ext cx="273941" cy="634812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009612" y="1151934"/>
            <a:ext cx="172378" cy="5206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8212226" y="1094873"/>
            <a:ext cx="427963" cy="634812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83553" y="1151934"/>
            <a:ext cx="285309" cy="520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헤더 영역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8640189" y="1094873"/>
            <a:ext cx="439442" cy="634812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11516" y="1151934"/>
            <a:ext cx="296788" cy="520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뒤로가기 헤더</a:t>
            </a:r>
            <a:endParaRPr lang="en-US" sz="700" dirty="0"/>
          </a:p>
        </p:txBody>
      </p:sp>
      <p:sp>
        <p:nvSpPr>
          <p:cNvPr id="29" name="Shape 26"/>
          <p:cNvSpPr/>
          <p:nvPr/>
        </p:nvSpPr>
        <p:spPr>
          <a:xfrm>
            <a:off x="9079631" y="1094873"/>
            <a:ext cx="2032714" cy="634812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150958" y="1151934"/>
            <a:ext cx="1890060" cy="520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2단계부터 좌측 뒤로가기 노출.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노출조건: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2단계 이상 표시.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뒤로가기 탭 → 이전 단계.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7938284" y="1729685"/>
            <a:ext cx="273941" cy="378034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009612" y="1786747"/>
            <a:ext cx="172378" cy="2639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8212226" y="1729685"/>
            <a:ext cx="427963" cy="378034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283553" y="1786747"/>
            <a:ext cx="285309" cy="263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본문 영역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8640189" y="1729685"/>
            <a:ext cx="439442" cy="378034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711516" y="1786747"/>
            <a:ext cx="296788" cy="263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안내 문구</a:t>
            </a:r>
            <a:endParaRPr lang="en-US" sz="700" dirty="0"/>
          </a:p>
        </p:txBody>
      </p:sp>
      <p:sp>
        <p:nvSpPr>
          <p:cNvPr id="37" name="Shape 34"/>
          <p:cNvSpPr/>
          <p:nvPr/>
        </p:nvSpPr>
        <p:spPr>
          <a:xfrm>
            <a:off x="9079631" y="1729685"/>
            <a:ext cx="2032714" cy="378034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150958" y="1786747"/>
            <a:ext cx="1890060" cy="263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자녀에게 받은 가족 초대 코드 입력 안내.</a:t>
            </a:r>
            <a:endParaRPr lang="en-US" sz="700" dirty="0"/>
          </a:p>
        </p:txBody>
      </p:sp>
      <p:sp>
        <p:nvSpPr>
          <p:cNvPr id="39" name="Shape 36"/>
          <p:cNvSpPr/>
          <p:nvPr/>
        </p:nvSpPr>
        <p:spPr>
          <a:xfrm>
            <a:off x="7938284" y="2107719"/>
            <a:ext cx="273941" cy="634812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009612" y="2164781"/>
            <a:ext cx="172378" cy="5206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41" name="Shape 38"/>
          <p:cNvSpPr/>
          <p:nvPr/>
        </p:nvSpPr>
        <p:spPr>
          <a:xfrm>
            <a:off x="8212226" y="2107719"/>
            <a:ext cx="427963" cy="634812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83553" y="2164781"/>
            <a:ext cx="285309" cy="520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영역</a:t>
            </a:r>
            <a:endParaRPr lang="en-US" sz="700" dirty="0"/>
          </a:p>
        </p:txBody>
      </p:sp>
      <p:sp>
        <p:nvSpPr>
          <p:cNvPr id="43" name="Shape 40"/>
          <p:cNvSpPr/>
          <p:nvPr/>
        </p:nvSpPr>
        <p:spPr>
          <a:xfrm>
            <a:off x="8640189" y="2107719"/>
            <a:ext cx="439442" cy="634812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711516" y="2164781"/>
            <a:ext cx="296788" cy="520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초대 코드 입력</a:t>
            </a:r>
            <a:endParaRPr lang="en-US" sz="700" dirty="0"/>
          </a:p>
        </p:txBody>
      </p:sp>
      <p:sp>
        <p:nvSpPr>
          <p:cNvPr id="45" name="Shape 42"/>
          <p:cNvSpPr/>
          <p:nvPr/>
        </p:nvSpPr>
        <p:spPr>
          <a:xfrm>
            <a:off x="9079631" y="2107719"/>
            <a:ext cx="2032714" cy="634812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150958" y="2164781"/>
            <a:ext cx="1890060" cy="520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6자리 영숫자 모노스페이스 대형 입력.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A-Z·0-9 6자리, 자동 대문자 변환.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6자리 충족 시 다음 버튼 활성.</a:t>
            </a:r>
            <a:endParaRPr lang="en-US" sz="700" dirty="0"/>
          </a:p>
        </p:txBody>
      </p:sp>
      <p:sp>
        <p:nvSpPr>
          <p:cNvPr id="47" name="Shape 44"/>
          <p:cNvSpPr/>
          <p:nvPr/>
        </p:nvSpPr>
        <p:spPr>
          <a:xfrm>
            <a:off x="7938284" y="2742531"/>
            <a:ext cx="273941" cy="378034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8009612" y="2799593"/>
            <a:ext cx="172378" cy="2639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  <p:sp>
        <p:nvSpPr>
          <p:cNvPr id="49" name="Shape 46"/>
          <p:cNvSpPr/>
          <p:nvPr/>
        </p:nvSpPr>
        <p:spPr>
          <a:xfrm>
            <a:off x="8212226" y="2742531"/>
            <a:ext cx="427963" cy="378034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283553" y="2799593"/>
            <a:ext cx="285309" cy="263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배너 영역</a:t>
            </a:r>
            <a:endParaRPr lang="en-US" sz="700" dirty="0"/>
          </a:p>
        </p:txBody>
      </p:sp>
      <p:sp>
        <p:nvSpPr>
          <p:cNvPr id="51" name="Shape 48"/>
          <p:cNvSpPr/>
          <p:nvPr/>
        </p:nvSpPr>
        <p:spPr>
          <a:xfrm>
            <a:off x="8640189" y="2742531"/>
            <a:ext cx="439442" cy="378034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711516" y="2799593"/>
            <a:ext cx="296788" cy="263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안내 배너</a:t>
            </a:r>
            <a:endParaRPr lang="en-US" sz="700" dirty="0"/>
          </a:p>
        </p:txBody>
      </p:sp>
      <p:sp>
        <p:nvSpPr>
          <p:cNvPr id="53" name="Shape 50"/>
          <p:cNvSpPr/>
          <p:nvPr/>
        </p:nvSpPr>
        <p:spPr>
          <a:xfrm>
            <a:off x="9079631" y="2742531"/>
            <a:ext cx="2032714" cy="378034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9150958" y="2799593"/>
            <a:ext cx="1890060" cy="263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발급 경로 안내(가족이 그룹 생성 시).</a:t>
            </a:r>
            <a:endParaRPr lang="en-US" sz="700" dirty="0"/>
          </a:p>
        </p:txBody>
      </p:sp>
      <p:sp>
        <p:nvSpPr>
          <p:cNvPr id="55" name="Shape 52"/>
          <p:cNvSpPr/>
          <p:nvPr/>
        </p:nvSpPr>
        <p:spPr>
          <a:xfrm>
            <a:off x="7938284" y="3120566"/>
            <a:ext cx="273941" cy="763201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8009612" y="3177627"/>
            <a:ext cx="172378" cy="6490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700" dirty="0"/>
          </a:p>
        </p:txBody>
      </p:sp>
      <p:sp>
        <p:nvSpPr>
          <p:cNvPr id="57" name="Shape 54"/>
          <p:cNvSpPr/>
          <p:nvPr/>
        </p:nvSpPr>
        <p:spPr>
          <a:xfrm>
            <a:off x="8212226" y="3120566"/>
            <a:ext cx="427963" cy="763201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8283553" y="3177627"/>
            <a:ext cx="285309" cy="64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CTA 영역</a:t>
            </a:r>
            <a:endParaRPr lang="en-US" sz="700" dirty="0"/>
          </a:p>
        </p:txBody>
      </p:sp>
      <p:sp>
        <p:nvSpPr>
          <p:cNvPr id="59" name="Shape 56"/>
          <p:cNvSpPr/>
          <p:nvPr/>
        </p:nvSpPr>
        <p:spPr>
          <a:xfrm>
            <a:off x="8640189" y="3120566"/>
            <a:ext cx="439442" cy="763201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8711516" y="3177627"/>
            <a:ext cx="296788" cy="64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단계로</a:t>
            </a:r>
            <a:endParaRPr lang="en-US" sz="700" dirty="0"/>
          </a:p>
        </p:txBody>
      </p:sp>
      <p:sp>
        <p:nvSpPr>
          <p:cNvPr id="61" name="Shape 58"/>
          <p:cNvSpPr/>
          <p:nvPr/>
        </p:nvSpPr>
        <p:spPr>
          <a:xfrm>
            <a:off x="9079631" y="3120566"/>
            <a:ext cx="2032714" cy="763201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9150958" y="3177627"/>
            <a:ext cx="1890060" cy="64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3단계 진행.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코드 6자리 미만 시 비활성.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 연동: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입력 코드는 4단계 완료 시 그룹 참여(POST /api/groups/join)에 사용.</a:t>
            </a:r>
            <a:endParaRPr lang="en-US" sz="700" dirty="0"/>
          </a:p>
        </p:txBody>
      </p:sp>
      <p:sp>
        <p:nvSpPr>
          <p:cNvPr id="63" name="Shape 60"/>
          <p:cNvSpPr/>
          <p:nvPr/>
        </p:nvSpPr>
        <p:spPr>
          <a:xfrm>
            <a:off x="3298449" y="1055643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64" name="Text 61"/>
          <p:cNvSpPr txBox="1"/>
          <p:nvPr/>
        </p:nvSpPr>
        <p:spPr>
          <a:xfrm>
            <a:off x="3298449" y="1055643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65" name="Shape 62"/>
          <p:cNvSpPr/>
          <p:nvPr/>
        </p:nvSpPr>
        <p:spPr>
          <a:xfrm>
            <a:off x="3298449" y="1726119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66" name="Text 63"/>
          <p:cNvSpPr txBox="1"/>
          <p:nvPr/>
        </p:nvSpPr>
        <p:spPr>
          <a:xfrm>
            <a:off x="3298449" y="1726119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67" name="Shape 64"/>
          <p:cNvSpPr/>
          <p:nvPr/>
        </p:nvSpPr>
        <p:spPr>
          <a:xfrm>
            <a:off x="3298449" y="2517851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68" name="Text 65"/>
          <p:cNvSpPr txBox="1"/>
          <p:nvPr/>
        </p:nvSpPr>
        <p:spPr>
          <a:xfrm>
            <a:off x="3298449" y="2517851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69" name="Shape 66"/>
          <p:cNvSpPr/>
          <p:nvPr/>
        </p:nvSpPr>
        <p:spPr>
          <a:xfrm>
            <a:off x="3298449" y="3252521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0" name="Text 67"/>
          <p:cNvSpPr txBox="1"/>
          <p:nvPr/>
        </p:nvSpPr>
        <p:spPr>
          <a:xfrm>
            <a:off x="3298449" y="3252521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  <p:sp>
        <p:nvSpPr>
          <p:cNvPr id="71" name="Shape 68"/>
          <p:cNvSpPr/>
          <p:nvPr/>
        </p:nvSpPr>
        <p:spPr>
          <a:xfrm>
            <a:off x="3298449" y="6112742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2" name="Text 69"/>
          <p:cNvSpPr txBox="1"/>
          <p:nvPr/>
        </p:nvSpPr>
        <p:spPr>
          <a:xfrm>
            <a:off x="3298449" y="6112742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0102" y="57062"/>
            <a:ext cx="9928748" cy="52068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79889" y="238946"/>
            <a:ext cx="552117" cy="156920"/>
          </a:xfrm>
          <a:prstGeom prst="rect">
            <a:avLst/>
          </a:prstGeom>
          <a:solidFill>
            <a:srgbClr val="E9ECEF"/>
          </a:solidFill>
          <a:ln w="7620">
            <a:solidFill>
              <a:srgbClr val="CED4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365482" y="260344"/>
            <a:ext cx="463749" cy="11412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SCR-002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2003192" y="213982"/>
            <a:ext cx="370784" cy="92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2003192" y="328105"/>
            <a:ext cx="1427129" cy="128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온보딩 3단계 (위치정보 동의)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3529483" y="224681"/>
            <a:ext cx="317211" cy="92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Route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3529483" y="338804"/>
            <a:ext cx="979061" cy="1069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 (onboarding step3)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4666149" y="224681"/>
            <a:ext cx="361685" cy="92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Status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4666149" y="338804"/>
            <a:ext cx="890370" cy="1069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 완료 (실제 화면)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130102" y="577750"/>
            <a:ext cx="6505042" cy="6109064"/>
          </a:xfrm>
          <a:prstGeom prst="rect">
            <a:avLst/>
          </a:prstGeom>
          <a:solidFill>
            <a:srgbClr val="FFFFFF"/>
          </a:solidFill>
          <a:ln w="7620">
            <a:solidFill>
              <a:srgbClr val="DEE2E6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7406" y="584883"/>
            <a:ext cx="2710434" cy="6094799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806329" y="577750"/>
            <a:ext cx="3423706" cy="457920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934718" y="691874"/>
            <a:ext cx="3658373" cy="1141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12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Description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7938284" y="880891"/>
            <a:ext cx="273941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009612" y="937953"/>
            <a:ext cx="172378" cy="998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No.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8212226" y="880891"/>
            <a:ext cx="427963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83553" y="937953"/>
            <a:ext cx="285309" cy="9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영역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8640189" y="880891"/>
            <a:ext cx="790395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711516" y="937953"/>
            <a:ext cx="647740" cy="9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요소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9430583" y="880891"/>
            <a:ext cx="1681762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501911" y="937953"/>
            <a:ext cx="1539107" cy="9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7938284" y="1094873"/>
            <a:ext cx="273941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009612" y="1151934"/>
            <a:ext cx="172378" cy="392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8212226" y="1094873"/>
            <a:ext cx="427963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83553" y="1151934"/>
            <a:ext cx="285309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 영역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8640189" y="1094873"/>
            <a:ext cx="790395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11516" y="1151934"/>
            <a:ext cx="647740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대리 동의 경고</a:t>
            </a:r>
            <a:endParaRPr lang="en-US" sz="700" dirty="0"/>
          </a:p>
        </p:txBody>
      </p:sp>
      <p:sp>
        <p:nvSpPr>
          <p:cNvPr id="29" name="Shape 26"/>
          <p:cNvSpPr/>
          <p:nvPr/>
        </p:nvSpPr>
        <p:spPr>
          <a:xfrm>
            <a:off x="9430583" y="1094873"/>
            <a:ext cx="1681762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501911" y="1151934"/>
            <a:ext cx="1539107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'부모님 직접 조작 필수' 법적 경고 박스.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노출조건: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3단계 표시. 위치정보법 준수 고지.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7938284" y="1601296"/>
            <a:ext cx="273941" cy="1148368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009612" y="1658358"/>
            <a:ext cx="172378" cy="1034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8212226" y="1601296"/>
            <a:ext cx="427963" cy="1148368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283553" y="1658358"/>
            <a:ext cx="285309" cy="1034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폼 영역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8640189" y="1601296"/>
            <a:ext cx="790395" cy="1148368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711516" y="1658358"/>
            <a:ext cx="647740" cy="1034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[필수] 위치정보 수집·이용 및 제3자 제공 동의</a:t>
            </a:r>
            <a:endParaRPr lang="en-US" sz="700" dirty="0"/>
          </a:p>
        </p:txBody>
      </p:sp>
      <p:sp>
        <p:nvSpPr>
          <p:cNvPr id="37" name="Shape 34"/>
          <p:cNvSpPr/>
          <p:nvPr/>
        </p:nvSpPr>
        <p:spPr>
          <a:xfrm>
            <a:off x="9430583" y="1601296"/>
            <a:ext cx="1681762" cy="1148368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501911" y="1658358"/>
            <a:ext cx="1539107" cy="1034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핵심 필수 동의.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체크박스 동의/철회.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동의 시 CTA 활성.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예외 Case: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미동의 시 CTA 비활성.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 연동: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동의 시 POST /api/location/consent { required, version }.</a:t>
            </a:r>
            <a:endParaRPr lang="en-US" sz="700" dirty="0"/>
          </a:p>
        </p:txBody>
      </p:sp>
      <p:sp>
        <p:nvSpPr>
          <p:cNvPr id="39" name="Shape 36"/>
          <p:cNvSpPr/>
          <p:nvPr/>
        </p:nvSpPr>
        <p:spPr>
          <a:xfrm>
            <a:off x="7938284" y="2749664"/>
            <a:ext cx="273941" cy="763201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009612" y="2806726"/>
            <a:ext cx="172378" cy="6490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41" name="Shape 38"/>
          <p:cNvSpPr/>
          <p:nvPr/>
        </p:nvSpPr>
        <p:spPr>
          <a:xfrm>
            <a:off x="8212226" y="2749664"/>
            <a:ext cx="427963" cy="763201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83553" y="2806726"/>
            <a:ext cx="285309" cy="64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폼 영역</a:t>
            </a:r>
            <a:endParaRPr lang="en-US" sz="700" dirty="0"/>
          </a:p>
        </p:txBody>
      </p:sp>
      <p:sp>
        <p:nvSpPr>
          <p:cNvPr id="43" name="Shape 40"/>
          <p:cNvSpPr/>
          <p:nvPr/>
        </p:nvSpPr>
        <p:spPr>
          <a:xfrm>
            <a:off x="8640189" y="2749664"/>
            <a:ext cx="790395" cy="763201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711516" y="2806726"/>
            <a:ext cx="647740" cy="64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[선택] 혜택·알림 수신 동의</a:t>
            </a:r>
            <a:endParaRPr lang="en-US" sz="700" dirty="0"/>
          </a:p>
        </p:txBody>
      </p:sp>
      <p:sp>
        <p:nvSpPr>
          <p:cNvPr id="45" name="Shape 42"/>
          <p:cNvSpPr/>
          <p:nvPr/>
        </p:nvSpPr>
        <p:spPr>
          <a:xfrm>
            <a:off x="9430583" y="2749664"/>
            <a:ext cx="1681762" cy="763201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501911" y="2806726"/>
            <a:ext cx="1539107" cy="64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마케팅 선택 동의.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선택 체크.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 연동: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consent 페이로드 marketingConsent 포함.</a:t>
            </a:r>
            <a:endParaRPr lang="en-US" sz="700" dirty="0"/>
          </a:p>
        </p:txBody>
      </p:sp>
      <p:sp>
        <p:nvSpPr>
          <p:cNvPr id="47" name="Shape 44"/>
          <p:cNvSpPr/>
          <p:nvPr/>
        </p:nvSpPr>
        <p:spPr>
          <a:xfrm>
            <a:off x="7938284" y="3512865"/>
            <a:ext cx="273941" cy="506423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8009612" y="3569927"/>
            <a:ext cx="172378" cy="392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  <p:sp>
        <p:nvSpPr>
          <p:cNvPr id="49" name="Shape 46"/>
          <p:cNvSpPr/>
          <p:nvPr/>
        </p:nvSpPr>
        <p:spPr>
          <a:xfrm>
            <a:off x="8212226" y="3512865"/>
            <a:ext cx="427963" cy="506423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283553" y="3569927"/>
            <a:ext cx="285309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폼 영역</a:t>
            </a:r>
            <a:endParaRPr lang="en-US" sz="700" dirty="0"/>
          </a:p>
        </p:txBody>
      </p:sp>
      <p:sp>
        <p:nvSpPr>
          <p:cNvPr id="51" name="Shape 48"/>
          <p:cNvSpPr/>
          <p:nvPr/>
        </p:nvSpPr>
        <p:spPr>
          <a:xfrm>
            <a:off x="8640189" y="3512865"/>
            <a:ext cx="790395" cy="506423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711516" y="3569927"/>
            <a:ext cx="647740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약관 전문 보기</a:t>
            </a:r>
            <a:endParaRPr lang="en-US" sz="700" dirty="0"/>
          </a:p>
        </p:txBody>
      </p:sp>
      <p:sp>
        <p:nvSpPr>
          <p:cNvPr id="53" name="Shape 50"/>
          <p:cNvSpPr/>
          <p:nvPr/>
        </p:nvSpPr>
        <p:spPr>
          <a:xfrm>
            <a:off x="9430583" y="3512865"/>
            <a:ext cx="1681762" cy="506423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9501911" y="3569927"/>
            <a:ext cx="1539107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약관 전문 토스트/페이지 링크.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탭 시 약관 전문 표시.</a:t>
            </a:r>
            <a:endParaRPr lang="en-US" sz="700" dirty="0"/>
          </a:p>
        </p:txBody>
      </p:sp>
      <p:sp>
        <p:nvSpPr>
          <p:cNvPr id="55" name="Shape 52"/>
          <p:cNvSpPr/>
          <p:nvPr/>
        </p:nvSpPr>
        <p:spPr>
          <a:xfrm>
            <a:off x="7938284" y="4019288"/>
            <a:ext cx="273941" cy="101997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8009612" y="4076350"/>
            <a:ext cx="172378" cy="9058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700" dirty="0"/>
          </a:p>
        </p:txBody>
      </p:sp>
      <p:sp>
        <p:nvSpPr>
          <p:cNvPr id="57" name="Shape 54"/>
          <p:cNvSpPr/>
          <p:nvPr/>
        </p:nvSpPr>
        <p:spPr>
          <a:xfrm>
            <a:off x="8212226" y="4019288"/>
            <a:ext cx="427963" cy="101997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8283553" y="4076350"/>
            <a:ext cx="285309" cy="905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CTA 영역</a:t>
            </a:r>
            <a:endParaRPr lang="en-US" sz="700" dirty="0"/>
          </a:p>
        </p:txBody>
      </p:sp>
      <p:sp>
        <p:nvSpPr>
          <p:cNvPr id="59" name="Shape 56"/>
          <p:cNvSpPr/>
          <p:nvPr/>
        </p:nvSpPr>
        <p:spPr>
          <a:xfrm>
            <a:off x="8640189" y="4019288"/>
            <a:ext cx="790395" cy="101997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8711516" y="4076350"/>
            <a:ext cx="647740" cy="905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 공유 시작하기</a:t>
            </a:r>
            <a:endParaRPr lang="en-US" sz="700" dirty="0"/>
          </a:p>
        </p:txBody>
      </p:sp>
      <p:sp>
        <p:nvSpPr>
          <p:cNvPr id="61" name="Shape 58"/>
          <p:cNvSpPr/>
          <p:nvPr/>
        </p:nvSpPr>
        <p:spPr>
          <a:xfrm>
            <a:off x="9430583" y="4019288"/>
            <a:ext cx="1681762" cy="101997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9501911" y="4076350"/>
            <a:ext cx="1539107" cy="905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브라우저 위치 권한 시트 오픈.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필수 동의 시 활성.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인터랙션: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탭 시 하단 권한 BottomSheet 슬라이드업.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예외 Case: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권한 거부 시 permDenied 상태로 4단계 진행.</a:t>
            </a:r>
            <a:endParaRPr lang="en-US" sz="700" dirty="0"/>
          </a:p>
        </p:txBody>
      </p:sp>
      <p:sp>
        <p:nvSpPr>
          <p:cNvPr id="63" name="Shape 60"/>
          <p:cNvSpPr/>
          <p:nvPr/>
        </p:nvSpPr>
        <p:spPr>
          <a:xfrm>
            <a:off x="3298449" y="2154082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64" name="Text 61"/>
          <p:cNvSpPr txBox="1"/>
          <p:nvPr/>
        </p:nvSpPr>
        <p:spPr>
          <a:xfrm>
            <a:off x="3298449" y="2154082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65" name="Shape 62"/>
          <p:cNvSpPr/>
          <p:nvPr/>
        </p:nvSpPr>
        <p:spPr>
          <a:xfrm>
            <a:off x="3298449" y="2945814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66" name="Text 63"/>
          <p:cNvSpPr txBox="1"/>
          <p:nvPr/>
        </p:nvSpPr>
        <p:spPr>
          <a:xfrm>
            <a:off x="3298449" y="2945814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67" name="Shape 64"/>
          <p:cNvSpPr/>
          <p:nvPr/>
        </p:nvSpPr>
        <p:spPr>
          <a:xfrm>
            <a:off x="3298449" y="3373777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68" name="Text 65"/>
          <p:cNvSpPr txBox="1"/>
          <p:nvPr/>
        </p:nvSpPr>
        <p:spPr>
          <a:xfrm>
            <a:off x="3298449" y="3373777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69" name="Shape 66"/>
          <p:cNvSpPr/>
          <p:nvPr/>
        </p:nvSpPr>
        <p:spPr>
          <a:xfrm>
            <a:off x="3298449" y="3794608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0" name="Text 67"/>
          <p:cNvSpPr txBox="1"/>
          <p:nvPr/>
        </p:nvSpPr>
        <p:spPr>
          <a:xfrm>
            <a:off x="3298449" y="3794608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  <p:sp>
        <p:nvSpPr>
          <p:cNvPr id="71" name="Shape 68"/>
          <p:cNvSpPr/>
          <p:nvPr/>
        </p:nvSpPr>
        <p:spPr>
          <a:xfrm>
            <a:off x="3298449" y="6112742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2" name="Text 69"/>
          <p:cNvSpPr txBox="1"/>
          <p:nvPr/>
        </p:nvSpPr>
        <p:spPr>
          <a:xfrm>
            <a:off x="3298449" y="6112742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0102" y="57062"/>
            <a:ext cx="9928748" cy="52068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79889" y="238946"/>
            <a:ext cx="552117" cy="156920"/>
          </a:xfrm>
          <a:prstGeom prst="rect">
            <a:avLst/>
          </a:prstGeom>
          <a:solidFill>
            <a:srgbClr val="E9ECEF"/>
          </a:solidFill>
          <a:ln w="7620">
            <a:solidFill>
              <a:srgbClr val="CED4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365482" y="260344"/>
            <a:ext cx="463749" cy="11412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SCR-002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2003192" y="213982"/>
            <a:ext cx="370784" cy="92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2003192" y="328105"/>
            <a:ext cx="974319" cy="128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온보딩 4단계 (완료)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3135734" y="224681"/>
            <a:ext cx="317211" cy="92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Route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3135734" y="338804"/>
            <a:ext cx="979702" cy="1069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 (onboarding step4)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4272957" y="224681"/>
            <a:ext cx="361685" cy="92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Status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4272957" y="338804"/>
            <a:ext cx="890370" cy="1069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 완료 (실제 화면)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130102" y="577750"/>
            <a:ext cx="6505042" cy="6109064"/>
          </a:xfrm>
          <a:prstGeom prst="rect">
            <a:avLst/>
          </a:prstGeom>
          <a:solidFill>
            <a:srgbClr val="FFFFFF"/>
          </a:solidFill>
          <a:ln w="7620">
            <a:solidFill>
              <a:srgbClr val="DEE2E6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7406" y="584883"/>
            <a:ext cx="2710434" cy="6094799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806329" y="577750"/>
            <a:ext cx="3423706" cy="291728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934718" y="691874"/>
            <a:ext cx="3658373" cy="1141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12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Description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7938284" y="880891"/>
            <a:ext cx="273941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009612" y="937953"/>
            <a:ext cx="172378" cy="998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No.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8212226" y="880891"/>
            <a:ext cx="427963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83553" y="937953"/>
            <a:ext cx="285309" cy="9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영역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8640189" y="880891"/>
            <a:ext cx="618206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711516" y="937953"/>
            <a:ext cx="475552" cy="9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요소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9258395" y="880891"/>
            <a:ext cx="1853950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329722" y="937953"/>
            <a:ext cx="1711296" cy="9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7938284" y="1094873"/>
            <a:ext cx="273941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009612" y="1151934"/>
            <a:ext cx="172378" cy="392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8212226" y="1094873"/>
            <a:ext cx="427963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83553" y="1151934"/>
            <a:ext cx="285309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 영역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8640189" y="1094873"/>
            <a:ext cx="618206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11516" y="1151934"/>
            <a:ext cx="475552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 바 (4/4)</a:t>
            </a:r>
            <a:endParaRPr lang="en-US" sz="700" dirty="0"/>
          </a:p>
        </p:txBody>
      </p:sp>
      <p:sp>
        <p:nvSpPr>
          <p:cNvPr id="29" name="Shape 26"/>
          <p:cNvSpPr/>
          <p:nvPr/>
        </p:nvSpPr>
        <p:spPr>
          <a:xfrm>
            <a:off x="9258395" y="1094873"/>
            <a:ext cx="1853950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329722" y="1151934"/>
            <a:ext cx="1711296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단계 완료 표시.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4분할 모두 채움.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7938284" y="1601296"/>
            <a:ext cx="273941" cy="378034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009612" y="1658358"/>
            <a:ext cx="172378" cy="2639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8212226" y="1601296"/>
            <a:ext cx="427963" cy="378034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283553" y="1658358"/>
            <a:ext cx="285309" cy="263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본문 영역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8640189" y="1601296"/>
            <a:ext cx="618206" cy="378034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711516" y="1658358"/>
            <a:ext cx="475552" cy="263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 체크 일러스트</a:t>
            </a:r>
            <a:endParaRPr lang="en-US" sz="700" dirty="0"/>
          </a:p>
        </p:txBody>
      </p:sp>
      <p:sp>
        <p:nvSpPr>
          <p:cNvPr id="37" name="Shape 34"/>
          <p:cNvSpPr/>
          <p:nvPr/>
        </p:nvSpPr>
        <p:spPr>
          <a:xfrm>
            <a:off x="9258395" y="1601296"/>
            <a:ext cx="1853950" cy="378034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329722" y="1658358"/>
            <a:ext cx="1711296" cy="263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 완료 체크 서클.</a:t>
            </a:r>
            <a:endParaRPr lang="en-US" sz="700" dirty="0"/>
          </a:p>
        </p:txBody>
      </p:sp>
      <p:sp>
        <p:nvSpPr>
          <p:cNvPr id="39" name="Shape 36"/>
          <p:cNvSpPr/>
          <p:nvPr/>
        </p:nvSpPr>
        <p:spPr>
          <a:xfrm>
            <a:off x="7938284" y="1979330"/>
            <a:ext cx="273941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009612" y="2036392"/>
            <a:ext cx="172378" cy="392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41" name="Shape 38"/>
          <p:cNvSpPr/>
          <p:nvPr/>
        </p:nvSpPr>
        <p:spPr>
          <a:xfrm>
            <a:off x="8212226" y="1979330"/>
            <a:ext cx="427963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83553" y="2036392"/>
            <a:ext cx="285309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본문 영역</a:t>
            </a:r>
            <a:endParaRPr lang="en-US" sz="700" dirty="0"/>
          </a:p>
        </p:txBody>
      </p:sp>
      <p:sp>
        <p:nvSpPr>
          <p:cNvPr id="43" name="Shape 40"/>
          <p:cNvSpPr/>
          <p:nvPr/>
        </p:nvSpPr>
        <p:spPr>
          <a:xfrm>
            <a:off x="8640189" y="1979330"/>
            <a:ext cx="618206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711516" y="2036392"/>
            <a:ext cx="475552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 안내 문구</a:t>
            </a:r>
            <a:endParaRPr lang="en-US" sz="700" dirty="0"/>
          </a:p>
        </p:txBody>
      </p:sp>
      <p:sp>
        <p:nvSpPr>
          <p:cNvPr id="45" name="Shape 42"/>
          <p:cNvSpPr/>
          <p:nvPr/>
        </p:nvSpPr>
        <p:spPr>
          <a:xfrm>
            <a:off x="9258395" y="1979330"/>
            <a:ext cx="1853950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329722" y="2036392"/>
            <a:ext cx="1711296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 위치 확인 가능 + SOS 안내.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예외 Case: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위치 권한 거부 시 경고 배너 추가 표시.</a:t>
            </a:r>
            <a:endParaRPr lang="en-US" sz="700" dirty="0"/>
          </a:p>
        </p:txBody>
      </p:sp>
      <p:sp>
        <p:nvSpPr>
          <p:cNvPr id="47" name="Shape 44"/>
          <p:cNvSpPr/>
          <p:nvPr/>
        </p:nvSpPr>
        <p:spPr>
          <a:xfrm>
            <a:off x="7938284" y="2485753"/>
            <a:ext cx="273941" cy="891590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8009612" y="2542815"/>
            <a:ext cx="172378" cy="7774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  <p:sp>
        <p:nvSpPr>
          <p:cNvPr id="49" name="Shape 46"/>
          <p:cNvSpPr/>
          <p:nvPr/>
        </p:nvSpPr>
        <p:spPr>
          <a:xfrm>
            <a:off x="8212226" y="2485753"/>
            <a:ext cx="427963" cy="891590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283553" y="2542815"/>
            <a:ext cx="285309" cy="7774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CTA 영역</a:t>
            </a:r>
            <a:endParaRPr lang="en-US" sz="700" dirty="0"/>
          </a:p>
        </p:txBody>
      </p:sp>
      <p:sp>
        <p:nvSpPr>
          <p:cNvPr id="51" name="Shape 48"/>
          <p:cNvSpPr/>
          <p:nvPr/>
        </p:nvSpPr>
        <p:spPr>
          <a:xfrm>
            <a:off x="8640189" y="2485753"/>
            <a:ext cx="618206" cy="891590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711516" y="2542815"/>
            <a:ext cx="475552" cy="7774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안심맵 시작하기</a:t>
            </a:r>
            <a:endParaRPr lang="en-US" sz="700" dirty="0"/>
          </a:p>
        </p:txBody>
      </p:sp>
      <p:sp>
        <p:nvSpPr>
          <p:cNvPr id="53" name="Shape 50"/>
          <p:cNvSpPr/>
          <p:nvPr/>
        </p:nvSpPr>
        <p:spPr>
          <a:xfrm>
            <a:off x="9258395" y="2485753"/>
            <a:ext cx="1853950" cy="891590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9329722" y="2542815"/>
            <a:ext cx="1711296" cy="7774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부모님 메인(SCR-003)으로 진입.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인터랙션: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탭 시 onboarded 저장, 메인 슬라이드-인.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 연동: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입력 코드로 그룹 참여 연계(POST /api/groups/join).</a:t>
            </a:r>
            <a:endParaRPr lang="en-US" sz="700" dirty="0"/>
          </a:p>
        </p:txBody>
      </p:sp>
      <p:sp>
        <p:nvSpPr>
          <p:cNvPr id="55" name="Shape 52"/>
          <p:cNvSpPr/>
          <p:nvPr/>
        </p:nvSpPr>
        <p:spPr>
          <a:xfrm>
            <a:off x="4518145" y="1055643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56" name="Text 53"/>
          <p:cNvSpPr txBox="1"/>
          <p:nvPr/>
        </p:nvSpPr>
        <p:spPr>
          <a:xfrm>
            <a:off x="4518145" y="1055643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57" name="Shape 54"/>
          <p:cNvSpPr/>
          <p:nvPr/>
        </p:nvSpPr>
        <p:spPr>
          <a:xfrm>
            <a:off x="4111580" y="2154082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58" name="Text 55"/>
          <p:cNvSpPr txBox="1"/>
          <p:nvPr/>
        </p:nvSpPr>
        <p:spPr>
          <a:xfrm>
            <a:off x="4111580" y="2154082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59" name="Shape 56"/>
          <p:cNvSpPr/>
          <p:nvPr/>
        </p:nvSpPr>
        <p:spPr>
          <a:xfrm>
            <a:off x="3298449" y="3252521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60" name="Text 57"/>
          <p:cNvSpPr txBox="1"/>
          <p:nvPr/>
        </p:nvSpPr>
        <p:spPr>
          <a:xfrm>
            <a:off x="3298449" y="3252521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61" name="Shape 58"/>
          <p:cNvSpPr/>
          <p:nvPr/>
        </p:nvSpPr>
        <p:spPr>
          <a:xfrm>
            <a:off x="3298449" y="6112742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62" name="Text 59"/>
          <p:cNvSpPr txBox="1"/>
          <p:nvPr/>
        </p:nvSpPr>
        <p:spPr>
          <a:xfrm>
            <a:off x="3298449" y="6112742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0102" y="57062"/>
            <a:ext cx="9928748" cy="52068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79889" y="238946"/>
            <a:ext cx="553343" cy="156920"/>
          </a:xfrm>
          <a:prstGeom prst="rect">
            <a:avLst/>
          </a:prstGeom>
          <a:solidFill>
            <a:srgbClr val="E9ECEF"/>
          </a:solidFill>
          <a:ln w="7620">
            <a:solidFill>
              <a:srgbClr val="CED4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365482" y="260344"/>
            <a:ext cx="465159" cy="11412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SCR-005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2004418" y="213982"/>
            <a:ext cx="370784" cy="92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2004418" y="328105"/>
            <a:ext cx="942662" cy="128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 그룹 생성·참여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3109432" y="224681"/>
            <a:ext cx="317211" cy="92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Route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3109432" y="338804"/>
            <a:ext cx="411157" cy="1069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 (group)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3752269" y="224681"/>
            <a:ext cx="361685" cy="92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Status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3752269" y="338804"/>
            <a:ext cx="890370" cy="1069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 완료 (실제 화면)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130102" y="577750"/>
            <a:ext cx="6505042" cy="6109064"/>
          </a:xfrm>
          <a:prstGeom prst="rect">
            <a:avLst/>
          </a:prstGeom>
          <a:solidFill>
            <a:srgbClr val="FFFFFF"/>
          </a:solidFill>
          <a:ln w="7620">
            <a:solidFill>
              <a:srgbClr val="DEE2E6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7406" y="584883"/>
            <a:ext cx="2710434" cy="6094799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806329" y="577750"/>
            <a:ext cx="3423706" cy="30528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934718" y="691874"/>
            <a:ext cx="3658373" cy="1141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12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Description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7938284" y="880891"/>
            <a:ext cx="273941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009612" y="937953"/>
            <a:ext cx="172378" cy="998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No.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8212226" y="880891"/>
            <a:ext cx="427963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83553" y="937953"/>
            <a:ext cx="285309" cy="9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영역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8640189" y="880891"/>
            <a:ext cx="459392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711516" y="937953"/>
            <a:ext cx="316737" cy="9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요소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9099581" y="880891"/>
            <a:ext cx="2012765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170908" y="937953"/>
            <a:ext cx="1870110" cy="9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7938284" y="1094873"/>
            <a:ext cx="273941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009612" y="1151934"/>
            <a:ext cx="172378" cy="392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8212226" y="1094873"/>
            <a:ext cx="427963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83553" y="1151934"/>
            <a:ext cx="285309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헤더 영역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8640189" y="1094873"/>
            <a:ext cx="459392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11516" y="1151934"/>
            <a:ext cx="316737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 설정 헤더</a:t>
            </a:r>
            <a:endParaRPr lang="en-US" sz="700" dirty="0"/>
          </a:p>
        </p:txBody>
      </p:sp>
      <p:sp>
        <p:nvSpPr>
          <p:cNvPr id="29" name="Shape 26"/>
          <p:cNvSpPr/>
          <p:nvPr/>
        </p:nvSpPr>
        <p:spPr>
          <a:xfrm>
            <a:off x="9099581" y="1094873"/>
            <a:ext cx="2012765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170908" y="1151934"/>
            <a:ext cx="1870110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'가족 그룹 설정' + 뒤로가기.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뒤로가기 탭 → 이전.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7938284" y="1601296"/>
            <a:ext cx="273941" cy="1148368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009612" y="1658358"/>
            <a:ext cx="172378" cy="1034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8212226" y="1601296"/>
            <a:ext cx="427963" cy="1148368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283553" y="1658358"/>
            <a:ext cx="285309" cy="1034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영역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8640189" y="1601296"/>
            <a:ext cx="459392" cy="1148368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711516" y="1658358"/>
            <a:ext cx="316737" cy="1034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가족 그룹 생성</a:t>
            </a:r>
            <a:endParaRPr lang="en-US" sz="700" dirty="0"/>
          </a:p>
        </p:txBody>
      </p:sp>
      <p:sp>
        <p:nvSpPr>
          <p:cNvPr id="37" name="Shape 34"/>
          <p:cNvSpPr/>
          <p:nvPr/>
        </p:nvSpPr>
        <p:spPr>
          <a:xfrm>
            <a:off x="9099581" y="1601296"/>
            <a:ext cx="2012765" cy="1148368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170908" y="1658358"/>
            <a:ext cx="1870110" cy="1034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 생성 진입 카드(부모·가족 초대).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카드 탭 → 생성 플로우.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생성 시 초대 코드·QR 발급 화면.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화면 연동: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생성된 그룹이 관리자 '회원 및 그룹 관리' 목록에 신규 그룹으로 등록.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 연동: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POST /api/groups { name } → groupCode 발급.</a:t>
            </a:r>
            <a:endParaRPr lang="en-US" sz="700" dirty="0"/>
          </a:p>
        </p:txBody>
      </p:sp>
      <p:sp>
        <p:nvSpPr>
          <p:cNvPr id="39" name="Shape 36"/>
          <p:cNvSpPr/>
          <p:nvPr/>
        </p:nvSpPr>
        <p:spPr>
          <a:xfrm>
            <a:off x="7938284" y="2749664"/>
            <a:ext cx="273941" cy="763201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009612" y="2806726"/>
            <a:ext cx="172378" cy="6490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41" name="Shape 38"/>
          <p:cNvSpPr/>
          <p:nvPr/>
        </p:nvSpPr>
        <p:spPr>
          <a:xfrm>
            <a:off x="8212226" y="2749664"/>
            <a:ext cx="427963" cy="763201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83553" y="2806726"/>
            <a:ext cx="285309" cy="64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영역</a:t>
            </a:r>
            <a:endParaRPr lang="en-US" sz="700" dirty="0"/>
          </a:p>
        </p:txBody>
      </p:sp>
      <p:sp>
        <p:nvSpPr>
          <p:cNvPr id="43" name="Shape 40"/>
          <p:cNvSpPr/>
          <p:nvPr/>
        </p:nvSpPr>
        <p:spPr>
          <a:xfrm>
            <a:off x="8640189" y="2749664"/>
            <a:ext cx="459392" cy="763201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711516" y="2806726"/>
            <a:ext cx="316737" cy="64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초대 코드로 참여</a:t>
            </a:r>
            <a:endParaRPr lang="en-US" sz="700" dirty="0"/>
          </a:p>
        </p:txBody>
      </p:sp>
      <p:sp>
        <p:nvSpPr>
          <p:cNvPr id="45" name="Shape 42"/>
          <p:cNvSpPr/>
          <p:nvPr/>
        </p:nvSpPr>
        <p:spPr>
          <a:xfrm>
            <a:off x="9099581" y="2749664"/>
            <a:ext cx="2012765" cy="763201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170908" y="2806726"/>
            <a:ext cx="1870110" cy="64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입력 또는 QR 스캔으로 기존 그룹 참여.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카드 탭 → 코드 입력/QR.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예외 Case: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잘못된 코드 시 오류 메시지.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 연동: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POST /api/groups/join { code }.</a:t>
            </a:r>
            <a:endParaRPr lang="en-US" sz="700" dirty="0"/>
          </a:p>
        </p:txBody>
      </p:sp>
      <p:sp>
        <p:nvSpPr>
          <p:cNvPr id="47" name="Shape 44"/>
          <p:cNvSpPr/>
          <p:nvPr/>
        </p:nvSpPr>
        <p:spPr>
          <a:xfrm>
            <a:off x="3298449" y="1055643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3298449" y="1055643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49" name="Shape 46"/>
          <p:cNvSpPr/>
          <p:nvPr/>
        </p:nvSpPr>
        <p:spPr>
          <a:xfrm>
            <a:off x="3298449" y="2396594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3298449" y="2396594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51" name="Shape 48"/>
          <p:cNvSpPr/>
          <p:nvPr/>
        </p:nvSpPr>
        <p:spPr>
          <a:xfrm>
            <a:off x="3298449" y="3616290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52" name="Text 49"/>
          <p:cNvSpPr txBox="1"/>
          <p:nvPr/>
        </p:nvSpPr>
        <p:spPr>
          <a:xfrm>
            <a:off x="3298449" y="3616290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0102" y="57062"/>
            <a:ext cx="9928748" cy="52068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79889" y="238946"/>
            <a:ext cx="554569" cy="156920"/>
          </a:xfrm>
          <a:prstGeom prst="rect">
            <a:avLst/>
          </a:prstGeom>
          <a:solidFill>
            <a:srgbClr val="E9ECEF"/>
          </a:solidFill>
          <a:ln w="7620">
            <a:solidFill>
              <a:srgbClr val="CED4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365482" y="260344"/>
            <a:ext cx="466569" cy="11412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SCR-003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2005644" y="213982"/>
            <a:ext cx="370784" cy="92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2005644" y="328105"/>
            <a:ext cx="926769" cy="128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부모님 메인 (SOS)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3096838" y="224681"/>
            <a:ext cx="317211" cy="92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Route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3096838" y="338804"/>
            <a:ext cx="443967" cy="1069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 (parent)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3768206" y="224681"/>
            <a:ext cx="361685" cy="92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Status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3768206" y="338804"/>
            <a:ext cx="890370" cy="1069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 완료 (실제 화면)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130102" y="577750"/>
            <a:ext cx="6505042" cy="6109064"/>
          </a:xfrm>
          <a:prstGeom prst="rect">
            <a:avLst/>
          </a:prstGeom>
          <a:solidFill>
            <a:srgbClr val="FFFFFF"/>
          </a:solidFill>
          <a:ln w="7620">
            <a:solidFill>
              <a:srgbClr val="DEE2E6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7406" y="584883"/>
            <a:ext cx="2710434" cy="6094799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806329" y="577750"/>
            <a:ext cx="3423706" cy="495724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934718" y="691874"/>
            <a:ext cx="3658373" cy="1141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12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Description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7938284" y="880891"/>
            <a:ext cx="273941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009612" y="937953"/>
            <a:ext cx="172378" cy="998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No.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8212226" y="880891"/>
            <a:ext cx="427963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83553" y="937953"/>
            <a:ext cx="285309" cy="9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영역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8640189" y="880891"/>
            <a:ext cx="534508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711516" y="937953"/>
            <a:ext cx="391854" cy="9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요소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9174697" y="880891"/>
            <a:ext cx="1937648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246024" y="937953"/>
            <a:ext cx="1794994" cy="9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7938284" y="1094873"/>
            <a:ext cx="273941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009612" y="1151934"/>
            <a:ext cx="172378" cy="392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8212226" y="1094873"/>
            <a:ext cx="427963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83553" y="1151934"/>
            <a:ext cx="285309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헤더 영역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8640189" y="1094873"/>
            <a:ext cx="534508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11516" y="1151934"/>
            <a:ext cx="391854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브랜드 헤더</a:t>
            </a:r>
            <a:endParaRPr lang="en-US" sz="700" dirty="0"/>
          </a:p>
        </p:txBody>
      </p:sp>
      <p:sp>
        <p:nvSpPr>
          <p:cNvPr id="29" name="Shape 26"/>
          <p:cNvSpPr/>
          <p:nvPr/>
        </p:nvSpPr>
        <p:spPr>
          <a:xfrm>
            <a:off x="9174697" y="1094873"/>
            <a:ext cx="1937648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246024" y="1151934"/>
            <a:ext cx="1794994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안심맵 로고.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노출조건: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항상 표시.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7938284" y="1601296"/>
            <a:ext cx="273941" cy="634812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009612" y="1658358"/>
            <a:ext cx="172378" cy="5206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8212226" y="1601296"/>
            <a:ext cx="427963" cy="634812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283553" y="1658358"/>
            <a:ext cx="285309" cy="520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 영역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8640189" y="1601296"/>
            <a:ext cx="534508" cy="634812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711516" y="1658358"/>
            <a:ext cx="391854" cy="520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 아이콘</a:t>
            </a:r>
            <a:endParaRPr lang="en-US" sz="700" dirty="0"/>
          </a:p>
        </p:txBody>
      </p:sp>
      <p:sp>
        <p:nvSpPr>
          <p:cNvPr id="37" name="Shape 34"/>
          <p:cNvSpPr/>
          <p:nvPr/>
        </p:nvSpPr>
        <p:spPr>
          <a:xfrm>
            <a:off x="9174697" y="1601296"/>
            <a:ext cx="1937648" cy="634812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246024" y="1658358"/>
            <a:ext cx="1794994" cy="520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우상단 톱니 → 부모님 설정(SCR-004).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아이콘 탭 → SCR-004.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인터랙션: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탭 시 설정 슬라이드-인.</a:t>
            </a:r>
            <a:endParaRPr lang="en-US" sz="700" dirty="0"/>
          </a:p>
        </p:txBody>
      </p:sp>
      <p:sp>
        <p:nvSpPr>
          <p:cNvPr id="39" name="Shape 36"/>
          <p:cNvSpPr/>
          <p:nvPr/>
        </p:nvSpPr>
        <p:spPr>
          <a:xfrm>
            <a:off x="7938284" y="2236108"/>
            <a:ext cx="273941" cy="378034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009612" y="2293170"/>
            <a:ext cx="172378" cy="2639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41" name="Shape 38"/>
          <p:cNvSpPr/>
          <p:nvPr/>
        </p:nvSpPr>
        <p:spPr>
          <a:xfrm>
            <a:off x="8212226" y="2236108"/>
            <a:ext cx="427963" cy="378034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83553" y="2293170"/>
            <a:ext cx="285309" cy="263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배너 영역</a:t>
            </a:r>
            <a:endParaRPr lang="en-US" sz="700" dirty="0"/>
          </a:p>
        </p:txBody>
      </p:sp>
      <p:sp>
        <p:nvSpPr>
          <p:cNvPr id="43" name="Shape 40"/>
          <p:cNvSpPr/>
          <p:nvPr/>
        </p:nvSpPr>
        <p:spPr>
          <a:xfrm>
            <a:off x="8640189" y="2236108"/>
            <a:ext cx="534508" cy="378034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711516" y="2293170"/>
            <a:ext cx="391854" cy="263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켜짐 안내</a:t>
            </a:r>
            <a:endParaRPr lang="en-US" sz="700" dirty="0"/>
          </a:p>
        </p:txBody>
      </p:sp>
      <p:sp>
        <p:nvSpPr>
          <p:cNvPr id="45" name="Shape 42"/>
          <p:cNvSpPr/>
          <p:nvPr/>
        </p:nvSpPr>
        <p:spPr>
          <a:xfrm>
            <a:off x="9174697" y="2236108"/>
            <a:ext cx="1937648" cy="378034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246024" y="2293170"/>
            <a:ext cx="1794994" cy="263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 정확도·홈 화면 추가 안내 배너.</a:t>
            </a:r>
            <a:endParaRPr lang="en-US" sz="700" dirty="0"/>
          </a:p>
        </p:txBody>
      </p:sp>
      <p:sp>
        <p:nvSpPr>
          <p:cNvPr id="47" name="Shape 44"/>
          <p:cNvSpPr/>
          <p:nvPr/>
        </p:nvSpPr>
        <p:spPr>
          <a:xfrm>
            <a:off x="7938284" y="2614142"/>
            <a:ext cx="273941" cy="634812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8009612" y="2671204"/>
            <a:ext cx="172378" cy="5206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  <p:sp>
        <p:nvSpPr>
          <p:cNvPr id="49" name="Shape 46"/>
          <p:cNvSpPr/>
          <p:nvPr/>
        </p:nvSpPr>
        <p:spPr>
          <a:xfrm>
            <a:off x="8212226" y="2614142"/>
            <a:ext cx="427963" cy="634812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283553" y="2671204"/>
            <a:ext cx="285309" cy="520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영역</a:t>
            </a:r>
            <a:endParaRPr lang="en-US" sz="700" dirty="0"/>
          </a:p>
        </p:txBody>
      </p:sp>
      <p:sp>
        <p:nvSpPr>
          <p:cNvPr id="51" name="Shape 48"/>
          <p:cNvSpPr/>
          <p:nvPr/>
        </p:nvSpPr>
        <p:spPr>
          <a:xfrm>
            <a:off x="8640189" y="2614142"/>
            <a:ext cx="534508" cy="634812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711516" y="2671204"/>
            <a:ext cx="391854" cy="520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 전송 상태</a:t>
            </a:r>
            <a:endParaRPr lang="en-US" sz="700" dirty="0"/>
          </a:p>
        </p:txBody>
      </p:sp>
      <p:sp>
        <p:nvSpPr>
          <p:cNvPr id="53" name="Shape 50"/>
          <p:cNvSpPr/>
          <p:nvPr/>
        </p:nvSpPr>
        <p:spPr>
          <a:xfrm>
            <a:off x="9174697" y="2614142"/>
            <a:ext cx="1937648" cy="634812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9246024" y="2671204"/>
            <a:ext cx="1794994" cy="520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'위치 전송 중' + 음성 대화하기 진입 카드.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대화 카드 탭 → 음성 채팅(SCR-014).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공유 ON/OFF에 따라 상태 문구 변경.</a:t>
            </a:r>
            <a:endParaRPr lang="en-US" sz="700" dirty="0"/>
          </a:p>
        </p:txBody>
      </p:sp>
      <p:sp>
        <p:nvSpPr>
          <p:cNvPr id="55" name="Shape 52"/>
          <p:cNvSpPr/>
          <p:nvPr/>
        </p:nvSpPr>
        <p:spPr>
          <a:xfrm>
            <a:off x="7938284" y="3248955"/>
            <a:ext cx="273941" cy="1276757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8009612" y="3306016"/>
            <a:ext cx="172378" cy="11626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700" dirty="0"/>
          </a:p>
        </p:txBody>
      </p:sp>
      <p:sp>
        <p:nvSpPr>
          <p:cNvPr id="57" name="Shape 54"/>
          <p:cNvSpPr/>
          <p:nvPr/>
        </p:nvSpPr>
        <p:spPr>
          <a:xfrm>
            <a:off x="8212226" y="3248955"/>
            <a:ext cx="427963" cy="1276757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8283553" y="3306016"/>
            <a:ext cx="285309" cy="11626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SOS 영역</a:t>
            </a:r>
            <a:endParaRPr lang="en-US" sz="700" dirty="0"/>
          </a:p>
        </p:txBody>
      </p:sp>
      <p:sp>
        <p:nvSpPr>
          <p:cNvPr id="59" name="Shape 56"/>
          <p:cNvSpPr/>
          <p:nvPr/>
        </p:nvSpPr>
        <p:spPr>
          <a:xfrm>
            <a:off x="8640189" y="3248955"/>
            <a:ext cx="534508" cy="1276757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8711516" y="3306016"/>
            <a:ext cx="391854" cy="11626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SOS 긴급 호출 버튼</a:t>
            </a:r>
            <a:endParaRPr lang="en-US" sz="700" dirty="0"/>
          </a:p>
        </p:txBody>
      </p:sp>
      <p:sp>
        <p:nvSpPr>
          <p:cNvPr id="61" name="Shape 58"/>
          <p:cNvSpPr/>
          <p:nvPr/>
        </p:nvSpPr>
        <p:spPr>
          <a:xfrm>
            <a:off x="9174697" y="3248955"/>
            <a:ext cx="1937648" cy="1276757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9246024" y="3306016"/>
            <a:ext cx="1794994" cy="11626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대형 빨강 긴급 버튼.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버튼 탭 → 긴급 알림 발송.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인터랙션: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탭 시 펄스 + 발송 피드백.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예외 Case: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오프라인 시 연결 확인 토스트.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화면 연동: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SOS 발생 시 관리자 통계 '누적 SOS 호출 수' 집계 및 운영 모니터링 반영.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 연동: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POST /api/sos → 가족 전원 FCM 푸시(위치 포함).</a:t>
            </a:r>
            <a:endParaRPr lang="en-US" sz="700" dirty="0"/>
          </a:p>
        </p:txBody>
      </p:sp>
      <p:sp>
        <p:nvSpPr>
          <p:cNvPr id="63" name="Shape 60"/>
          <p:cNvSpPr/>
          <p:nvPr/>
        </p:nvSpPr>
        <p:spPr>
          <a:xfrm>
            <a:off x="7938284" y="4525712"/>
            <a:ext cx="273941" cy="891590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009612" y="4582773"/>
            <a:ext cx="172378" cy="7774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700" dirty="0"/>
          </a:p>
        </p:txBody>
      </p:sp>
      <p:sp>
        <p:nvSpPr>
          <p:cNvPr id="65" name="Shape 62"/>
          <p:cNvSpPr/>
          <p:nvPr/>
        </p:nvSpPr>
        <p:spPr>
          <a:xfrm>
            <a:off x="8212226" y="4525712"/>
            <a:ext cx="427963" cy="891590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8283553" y="4582773"/>
            <a:ext cx="285309" cy="7774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 영역</a:t>
            </a:r>
            <a:endParaRPr lang="en-US" sz="700" dirty="0"/>
          </a:p>
        </p:txBody>
      </p:sp>
      <p:sp>
        <p:nvSpPr>
          <p:cNvPr id="67" name="Shape 64"/>
          <p:cNvSpPr/>
          <p:nvPr/>
        </p:nvSpPr>
        <p:spPr>
          <a:xfrm>
            <a:off x="8640189" y="4525712"/>
            <a:ext cx="534508" cy="891590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8711516" y="4582773"/>
            <a:ext cx="391854" cy="7774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위치 공유 토글</a:t>
            </a:r>
            <a:endParaRPr lang="en-US" sz="700" dirty="0"/>
          </a:p>
        </p:txBody>
      </p:sp>
      <p:sp>
        <p:nvSpPr>
          <p:cNvPr id="69" name="Shape 66"/>
          <p:cNvSpPr/>
          <p:nvPr/>
        </p:nvSpPr>
        <p:spPr>
          <a:xfrm>
            <a:off x="9174697" y="4525712"/>
            <a:ext cx="1937648" cy="891590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9246024" y="4582773"/>
            <a:ext cx="1794994" cy="7774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 공유 ON/OFF · 30초 주기.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토글 ON/OFF.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상태·주기 텍스트 갱신.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 연동: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PATCH /api/users/me/location-sharing.</a:t>
            </a:r>
            <a:endParaRPr lang="en-US" sz="700" dirty="0"/>
          </a:p>
        </p:txBody>
      </p:sp>
      <p:sp>
        <p:nvSpPr>
          <p:cNvPr id="71" name="Shape 68"/>
          <p:cNvSpPr/>
          <p:nvPr/>
        </p:nvSpPr>
        <p:spPr>
          <a:xfrm>
            <a:off x="3298449" y="813130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2" name="Text 69"/>
          <p:cNvSpPr txBox="1"/>
          <p:nvPr/>
        </p:nvSpPr>
        <p:spPr>
          <a:xfrm>
            <a:off x="3298449" y="813130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73" name="Shape 70"/>
          <p:cNvSpPr/>
          <p:nvPr/>
        </p:nvSpPr>
        <p:spPr>
          <a:xfrm>
            <a:off x="4789188" y="813130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4" name="Text 71"/>
          <p:cNvSpPr txBox="1"/>
          <p:nvPr/>
        </p:nvSpPr>
        <p:spPr>
          <a:xfrm>
            <a:off x="4789188" y="813130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75" name="Shape 72"/>
          <p:cNvSpPr/>
          <p:nvPr/>
        </p:nvSpPr>
        <p:spPr>
          <a:xfrm>
            <a:off x="3298449" y="1604862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6" name="Text 73"/>
          <p:cNvSpPr txBox="1"/>
          <p:nvPr/>
        </p:nvSpPr>
        <p:spPr>
          <a:xfrm>
            <a:off x="3298449" y="1604862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77" name="Shape 74"/>
          <p:cNvSpPr/>
          <p:nvPr/>
        </p:nvSpPr>
        <p:spPr>
          <a:xfrm>
            <a:off x="3298449" y="2211144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8" name="Text 75"/>
          <p:cNvSpPr txBox="1"/>
          <p:nvPr/>
        </p:nvSpPr>
        <p:spPr>
          <a:xfrm>
            <a:off x="3298449" y="2211144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  <p:sp>
        <p:nvSpPr>
          <p:cNvPr id="79" name="Shape 76"/>
          <p:cNvSpPr/>
          <p:nvPr/>
        </p:nvSpPr>
        <p:spPr>
          <a:xfrm>
            <a:off x="4111580" y="3252521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80" name="Text 77"/>
          <p:cNvSpPr txBox="1"/>
          <p:nvPr/>
        </p:nvSpPr>
        <p:spPr>
          <a:xfrm>
            <a:off x="4111580" y="3252521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700" dirty="0"/>
          </a:p>
        </p:txBody>
      </p:sp>
      <p:sp>
        <p:nvSpPr>
          <p:cNvPr id="81" name="Shape 78"/>
          <p:cNvSpPr/>
          <p:nvPr/>
        </p:nvSpPr>
        <p:spPr>
          <a:xfrm>
            <a:off x="3298449" y="6112742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82" name="Text 79"/>
          <p:cNvSpPr txBox="1"/>
          <p:nvPr/>
        </p:nvSpPr>
        <p:spPr>
          <a:xfrm>
            <a:off x="3298449" y="6112742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0102" y="57062"/>
            <a:ext cx="9928748" cy="52068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79889" y="238946"/>
            <a:ext cx="555795" cy="156920"/>
          </a:xfrm>
          <a:prstGeom prst="rect">
            <a:avLst/>
          </a:prstGeom>
          <a:solidFill>
            <a:srgbClr val="E9ECEF"/>
          </a:solidFill>
          <a:ln w="7620">
            <a:solidFill>
              <a:srgbClr val="CED4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365482" y="260344"/>
            <a:ext cx="467979" cy="11412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SCR-004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2006869" y="213982"/>
            <a:ext cx="370784" cy="92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2006869" y="328105"/>
            <a:ext cx="560983" cy="128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부모님 설정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2779990" y="224681"/>
            <a:ext cx="317211" cy="92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Route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2779990" y="338804"/>
            <a:ext cx="869479" cy="1069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 (parent-settings)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3821367" y="224681"/>
            <a:ext cx="361685" cy="92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Status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3821367" y="338804"/>
            <a:ext cx="890370" cy="1069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 완료 (실제 화면)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130102" y="577750"/>
            <a:ext cx="6505042" cy="6109064"/>
          </a:xfrm>
          <a:prstGeom prst="rect">
            <a:avLst/>
          </a:prstGeom>
          <a:solidFill>
            <a:srgbClr val="FFFFFF"/>
          </a:solidFill>
          <a:ln w="7620">
            <a:solidFill>
              <a:srgbClr val="DEE2E6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7406" y="584883"/>
            <a:ext cx="2710434" cy="6094799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806329" y="577750"/>
            <a:ext cx="3423706" cy="40656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934718" y="691874"/>
            <a:ext cx="3658373" cy="1141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12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Description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7938284" y="880891"/>
            <a:ext cx="273941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009612" y="937953"/>
            <a:ext cx="172378" cy="998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No.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8212226" y="880891"/>
            <a:ext cx="427963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83553" y="937953"/>
            <a:ext cx="285309" cy="9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영역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8640189" y="880891"/>
            <a:ext cx="638044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711516" y="937953"/>
            <a:ext cx="495390" cy="9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요소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9278233" y="880891"/>
            <a:ext cx="1834112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349560" y="937953"/>
            <a:ext cx="1691458" cy="9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7938284" y="1094873"/>
            <a:ext cx="273941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009612" y="1151934"/>
            <a:ext cx="172378" cy="392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8212226" y="1094873"/>
            <a:ext cx="427963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83553" y="1151934"/>
            <a:ext cx="285309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헤더 영역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8640189" y="1094873"/>
            <a:ext cx="638044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11516" y="1151934"/>
            <a:ext cx="495390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 헤더</a:t>
            </a:r>
            <a:endParaRPr lang="en-US" sz="700" dirty="0"/>
          </a:p>
        </p:txBody>
      </p:sp>
      <p:sp>
        <p:nvSpPr>
          <p:cNvPr id="29" name="Shape 26"/>
          <p:cNvSpPr/>
          <p:nvPr/>
        </p:nvSpPr>
        <p:spPr>
          <a:xfrm>
            <a:off x="9278233" y="1094873"/>
            <a:ext cx="1834112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349560" y="1151934"/>
            <a:ext cx="1691458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'설정' + 뒤로가기.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뒤로가기 탭 → 메인.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7938284" y="1601296"/>
            <a:ext cx="273941" cy="891590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009612" y="1658358"/>
            <a:ext cx="172378" cy="7774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8212226" y="1601296"/>
            <a:ext cx="427963" cy="891590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283553" y="1658358"/>
            <a:ext cx="285309" cy="7774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 영역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8640189" y="1601296"/>
            <a:ext cx="638044" cy="891590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711516" y="1658358"/>
            <a:ext cx="495390" cy="7774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배터리 절약 모드</a:t>
            </a:r>
            <a:endParaRPr lang="en-US" sz="700" dirty="0"/>
          </a:p>
        </p:txBody>
      </p:sp>
      <p:sp>
        <p:nvSpPr>
          <p:cNvPr id="37" name="Shape 34"/>
          <p:cNvSpPr/>
          <p:nvPr/>
        </p:nvSpPr>
        <p:spPr>
          <a:xfrm>
            <a:off x="9278233" y="1601296"/>
            <a:ext cx="1834112" cy="891590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349560" y="1658358"/>
            <a:ext cx="1691458" cy="7774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 시 위치 전송 주기 3분.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토글 ON/OFF.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주기 안내 갱신.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 연동: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PATCH /api/users/me/settings { batterySaver }.</a:t>
            </a:r>
            <a:endParaRPr lang="en-US" sz="700" dirty="0"/>
          </a:p>
        </p:txBody>
      </p:sp>
      <p:sp>
        <p:nvSpPr>
          <p:cNvPr id="39" name="Shape 36"/>
          <p:cNvSpPr/>
          <p:nvPr/>
        </p:nvSpPr>
        <p:spPr>
          <a:xfrm>
            <a:off x="7938284" y="2492886"/>
            <a:ext cx="273941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009612" y="2549948"/>
            <a:ext cx="172378" cy="392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41" name="Shape 38"/>
          <p:cNvSpPr/>
          <p:nvPr/>
        </p:nvSpPr>
        <p:spPr>
          <a:xfrm>
            <a:off x="8212226" y="2492886"/>
            <a:ext cx="427963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83553" y="2549948"/>
            <a:ext cx="285309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 영역</a:t>
            </a:r>
            <a:endParaRPr lang="en-US" sz="700" dirty="0"/>
          </a:p>
        </p:txBody>
      </p:sp>
      <p:sp>
        <p:nvSpPr>
          <p:cNvPr id="43" name="Shape 40"/>
          <p:cNvSpPr/>
          <p:nvPr/>
        </p:nvSpPr>
        <p:spPr>
          <a:xfrm>
            <a:off x="8640189" y="2492886"/>
            <a:ext cx="638044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711516" y="2549948"/>
            <a:ext cx="495390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개인정보처리방침 열람</a:t>
            </a:r>
            <a:endParaRPr lang="en-US" sz="700" dirty="0"/>
          </a:p>
        </p:txBody>
      </p:sp>
      <p:sp>
        <p:nvSpPr>
          <p:cNvPr id="45" name="Shape 42"/>
          <p:cNvSpPr/>
          <p:nvPr/>
        </p:nvSpPr>
        <p:spPr>
          <a:xfrm>
            <a:off x="9278233" y="2492886"/>
            <a:ext cx="1834112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349560" y="2549948"/>
            <a:ext cx="1691458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약관/방침 열람 링크.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탭 → 방침 화면.</a:t>
            </a:r>
            <a:endParaRPr lang="en-US" sz="700" dirty="0"/>
          </a:p>
        </p:txBody>
      </p:sp>
      <p:sp>
        <p:nvSpPr>
          <p:cNvPr id="47" name="Shape 44"/>
          <p:cNvSpPr/>
          <p:nvPr/>
        </p:nvSpPr>
        <p:spPr>
          <a:xfrm>
            <a:off x="7938284" y="2999309"/>
            <a:ext cx="273941" cy="506423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8009612" y="3056371"/>
            <a:ext cx="172378" cy="392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  <p:sp>
        <p:nvSpPr>
          <p:cNvPr id="49" name="Shape 46"/>
          <p:cNvSpPr/>
          <p:nvPr/>
        </p:nvSpPr>
        <p:spPr>
          <a:xfrm>
            <a:off x="8212226" y="2999309"/>
            <a:ext cx="427963" cy="506423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283553" y="3056371"/>
            <a:ext cx="285309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 영역</a:t>
            </a:r>
            <a:endParaRPr lang="en-US" sz="700" dirty="0"/>
          </a:p>
        </p:txBody>
      </p:sp>
      <p:sp>
        <p:nvSpPr>
          <p:cNvPr id="51" name="Shape 48"/>
          <p:cNvSpPr/>
          <p:nvPr/>
        </p:nvSpPr>
        <p:spPr>
          <a:xfrm>
            <a:off x="8640189" y="2999309"/>
            <a:ext cx="638044" cy="506423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711516" y="3056371"/>
            <a:ext cx="495390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위치기반서비스 이용약관</a:t>
            </a:r>
            <a:endParaRPr lang="en-US" sz="700" dirty="0"/>
          </a:p>
        </p:txBody>
      </p:sp>
      <p:sp>
        <p:nvSpPr>
          <p:cNvPr id="53" name="Shape 50"/>
          <p:cNvSpPr/>
          <p:nvPr/>
        </p:nvSpPr>
        <p:spPr>
          <a:xfrm>
            <a:off x="9278233" y="2999309"/>
            <a:ext cx="1834112" cy="506423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9349560" y="3056371"/>
            <a:ext cx="1691458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LBS 약관 열람.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탭 → 약관 화면.</a:t>
            </a:r>
            <a:endParaRPr lang="en-US" sz="700" dirty="0"/>
          </a:p>
        </p:txBody>
      </p:sp>
      <p:sp>
        <p:nvSpPr>
          <p:cNvPr id="55" name="Shape 52"/>
          <p:cNvSpPr/>
          <p:nvPr/>
        </p:nvSpPr>
        <p:spPr>
          <a:xfrm>
            <a:off x="7938284" y="3505732"/>
            <a:ext cx="273941" cy="101997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8009612" y="3562794"/>
            <a:ext cx="172378" cy="9058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700" dirty="0"/>
          </a:p>
        </p:txBody>
      </p:sp>
      <p:sp>
        <p:nvSpPr>
          <p:cNvPr id="57" name="Shape 54"/>
          <p:cNvSpPr/>
          <p:nvPr/>
        </p:nvSpPr>
        <p:spPr>
          <a:xfrm>
            <a:off x="8212226" y="3505732"/>
            <a:ext cx="427963" cy="101997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8283553" y="3562794"/>
            <a:ext cx="285309" cy="905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 영역</a:t>
            </a:r>
            <a:endParaRPr lang="en-US" sz="700" dirty="0"/>
          </a:p>
        </p:txBody>
      </p:sp>
      <p:sp>
        <p:nvSpPr>
          <p:cNvPr id="59" name="Shape 56"/>
          <p:cNvSpPr/>
          <p:nvPr/>
        </p:nvSpPr>
        <p:spPr>
          <a:xfrm>
            <a:off x="8640189" y="3505732"/>
            <a:ext cx="638044" cy="101997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8711516" y="3562794"/>
            <a:ext cx="495390" cy="905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 공유 동의 철회</a:t>
            </a:r>
            <a:endParaRPr lang="en-US" sz="700" dirty="0"/>
          </a:p>
        </p:txBody>
      </p:sp>
      <p:sp>
        <p:nvSpPr>
          <p:cNvPr id="61" name="Shape 58"/>
          <p:cNvSpPr/>
          <p:nvPr/>
        </p:nvSpPr>
        <p:spPr>
          <a:xfrm>
            <a:off x="9278233" y="3505732"/>
            <a:ext cx="1834112" cy="101997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9349560" y="3562794"/>
            <a:ext cx="1691458" cy="905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동의 철회 시 가족 위치 조회 중단.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버튼 탭 → 확인 후 철회.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예외 Case: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철회 시 확인 모달.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화면 연동: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철회 시 관리자 회원 상태가 위치공유 OFF로 반영.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 연동: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DELETE /api/location/consent.</a:t>
            </a:r>
            <a:endParaRPr lang="en-US" sz="700" dirty="0"/>
          </a:p>
        </p:txBody>
      </p:sp>
      <p:sp>
        <p:nvSpPr>
          <p:cNvPr id="63" name="Shape 60"/>
          <p:cNvSpPr/>
          <p:nvPr/>
        </p:nvSpPr>
        <p:spPr>
          <a:xfrm>
            <a:off x="3298449" y="1055643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64" name="Text 61"/>
          <p:cNvSpPr txBox="1"/>
          <p:nvPr/>
        </p:nvSpPr>
        <p:spPr>
          <a:xfrm>
            <a:off x="3298449" y="1055643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65" name="Shape 62"/>
          <p:cNvSpPr/>
          <p:nvPr/>
        </p:nvSpPr>
        <p:spPr>
          <a:xfrm>
            <a:off x="3298449" y="1968631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66" name="Text 63"/>
          <p:cNvSpPr txBox="1"/>
          <p:nvPr/>
        </p:nvSpPr>
        <p:spPr>
          <a:xfrm>
            <a:off x="3298449" y="1968631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67" name="Shape 64"/>
          <p:cNvSpPr/>
          <p:nvPr/>
        </p:nvSpPr>
        <p:spPr>
          <a:xfrm>
            <a:off x="3298449" y="2881619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68" name="Text 65"/>
          <p:cNvSpPr txBox="1"/>
          <p:nvPr/>
        </p:nvSpPr>
        <p:spPr>
          <a:xfrm>
            <a:off x="3298449" y="2881619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69" name="Shape 66"/>
          <p:cNvSpPr/>
          <p:nvPr/>
        </p:nvSpPr>
        <p:spPr>
          <a:xfrm>
            <a:off x="3298449" y="3309583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0" name="Text 67"/>
          <p:cNvSpPr txBox="1"/>
          <p:nvPr/>
        </p:nvSpPr>
        <p:spPr>
          <a:xfrm>
            <a:off x="3298449" y="3309583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  <p:sp>
        <p:nvSpPr>
          <p:cNvPr id="71" name="Shape 68"/>
          <p:cNvSpPr/>
          <p:nvPr/>
        </p:nvSpPr>
        <p:spPr>
          <a:xfrm>
            <a:off x="3298449" y="4714729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2" name="Text 69"/>
          <p:cNvSpPr txBox="1"/>
          <p:nvPr/>
        </p:nvSpPr>
        <p:spPr>
          <a:xfrm>
            <a:off x="3298449" y="4714729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0102" y="57062"/>
            <a:ext cx="9928748" cy="52068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79889" y="238946"/>
            <a:ext cx="540415" cy="156920"/>
          </a:xfrm>
          <a:prstGeom prst="rect">
            <a:avLst/>
          </a:prstGeom>
          <a:solidFill>
            <a:srgbClr val="E9ECEF"/>
          </a:solidFill>
          <a:ln w="7620">
            <a:solidFill>
              <a:srgbClr val="CED4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365482" y="260344"/>
            <a:ext cx="450292" cy="11412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SCR-014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1991490" y="213982"/>
            <a:ext cx="370784" cy="92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1991490" y="328105"/>
            <a:ext cx="802832" cy="128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부모님 음성 채팅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2974914" y="224681"/>
            <a:ext cx="317211" cy="92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Route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2974914" y="338804"/>
            <a:ext cx="697736" cy="1069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 (parent-chat)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3866949" y="224681"/>
            <a:ext cx="361685" cy="92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Status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3866949" y="338804"/>
            <a:ext cx="890370" cy="1069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 완료 (실제 화면)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130102" y="577750"/>
            <a:ext cx="6505042" cy="6109064"/>
          </a:xfrm>
          <a:prstGeom prst="rect">
            <a:avLst/>
          </a:prstGeom>
          <a:solidFill>
            <a:srgbClr val="FFFFFF"/>
          </a:solidFill>
          <a:ln w="7620">
            <a:solidFill>
              <a:srgbClr val="DEE2E6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7406" y="584883"/>
            <a:ext cx="2710434" cy="6094799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806329" y="577750"/>
            <a:ext cx="3423706" cy="343083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934718" y="691874"/>
            <a:ext cx="3658373" cy="1141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12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Description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7938284" y="880891"/>
            <a:ext cx="273941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009612" y="937953"/>
            <a:ext cx="172378" cy="998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No.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8212226" y="880891"/>
            <a:ext cx="427963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83553" y="937953"/>
            <a:ext cx="285309" cy="9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영역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8640189" y="880891"/>
            <a:ext cx="552340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711516" y="937953"/>
            <a:ext cx="409686" cy="9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요소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9192529" y="880891"/>
            <a:ext cx="1919816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263856" y="937953"/>
            <a:ext cx="1777162" cy="9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7938284" y="1094873"/>
            <a:ext cx="273941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009612" y="1151934"/>
            <a:ext cx="172378" cy="392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8212226" y="1094873"/>
            <a:ext cx="427963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83553" y="1151934"/>
            <a:ext cx="285309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헤더 영역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8640189" y="1094873"/>
            <a:ext cx="552340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11516" y="1151934"/>
            <a:ext cx="409686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음성 채팅 헤더</a:t>
            </a:r>
            <a:endParaRPr lang="en-US" sz="700" dirty="0"/>
          </a:p>
        </p:txBody>
      </p:sp>
      <p:sp>
        <p:nvSpPr>
          <p:cNvPr id="29" name="Shape 26"/>
          <p:cNvSpPr/>
          <p:nvPr/>
        </p:nvSpPr>
        <p:spPr>
          <a:xfrm>
            <a:off x="9192529" y="1094873"/>
            <a:ext cx="1919816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263856" y="1151934"/>
            <a:ext cx="1777162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'가족과 대화하기' + 안내 부제 + 뒤로가기.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뒤로가기 탭 → 메인.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7938284" y="1601296"/>
            <a:ext cx="273941" cy="763201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009612" y="1658358"/>
            <a:ext cx="172378" cy="6490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8212226" y="1601296"/>
            <a:ext cx="427963" cy="763201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283553" y="1658358"/>
            <a:ext cx="285309" cy="64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채팅 영역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8640189" y="1601296"/>
            <a:ext cx="552340" cy="763201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711516" y="1658358"/>
            <a:ext cx="409686" cy="64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 메시지 목록</a:t>
            </a:r>
            <a:endParaRPr lang="en-US" sz="700" dirty="0"/>
          </a:p>
        </p:txBody>
      </p:sp>
      <p:sp>
        <p:nvSpPr>
          <p:cNvPr id="37" name="Shape 34"/>
          <p:cNvSpPr/>
          <p:nvPr/>
        </p:nvSpPr>
        <p:spPr>
          <a:xfrm>
            <a:off x="9192529" y="1601296"/>
            <a:ext cx="1919816" cy="763201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263856" y="1658358"/>
            <a:ext cx="1777162" cy="64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 메시지 말풍선·시간 표시.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발신자명·시각 렌더. 신규 수신 시 하단 추가.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 연동: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GET /api/chat/{groupId}/messages.</a:t>
            </a:r>
            <a:endParaRPr lang="en-US" sz="700" dirty="0"/>
          </a:p>
        </p:txBody>
      </p:sp>
      <p:sp>
        <p:nvSpPr>
          <p:cNvPr id="39" name="Shape 36"/>
          <p:cNvSpPr/>
          <p:nvPr/>
        </p:nvSpPr>
        <p:spPr>
          <a:xfrm>
            <a:off x="7938284" y="2364497"/>
            <a:ext cx="273941" cy="101997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009612" y="2421559"/>
            <a:ext cx="172378" cy="9058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41" name="Shape 38"/>
          <p:cNvSpPr/>
          <p:nvPr/>
        </p:nvSpPr>
        <p:spPr>
          <a:xfrm>
            <a:off x="8212226" y="2364497"/>
            <a:ext cx="427963" cy="101997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83553" y="2421559"/>
            <a:ext cx="285309" cy="905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영역</a:t>
            </a:r>
            <a:endParaRPr lang="en-US" sz="700" dirty="0"/>
          </a:p>
        </p:txBody>
      </p:sp>
      <p:sp>
        <p:nvSpPr>
          <p:cNvPr id="43" name="Shape 40"/>
          <p:cNvSpPr/>
          <p:nvPr/>
        </p:nvSpPr>
        <p:spPr>
          <a:xfrm>
            <a:off x="8640189" y="2364497"/>
            <a:ext cx="552340" cy="101997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711516" y="2421559"/>
            <a:ext cx="409686" cy="905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눌러서 말하기</a:t>
            </a:r>
            <a:endParaRPr lang="en-US" sz="700" dirty="0"/>
          </a:p>
        </p:txBody>
      </p:sp>
      <p:sp>
        <p:nvSpPr>
          <p:cNvPr id="45" name="Shape 42"/>
          <p:cNvSpPr/>
          <p:nvPr/>
        </p:nvSpPr>
        <p:spPr>
          <a:xfrm>
            <a:off x="9192529" y="2364497"/>
            <a:ext cx="1919816" cy="101997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263856" y="2421559"/>
            <a:ext cx="1777162" cy="905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대형 음성 입력 버튼(STT).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누르는 동안 음성 인식 → 텍스트 전송.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인터랙션: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누름 시 녹음 펄스.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예외 Case: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권한 미허용/오프라인 시 토스트.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 연동: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STT 결과 POST /api/chat/{groupId}/messages.</a:t>
            </a:r>
            <a:endParaRPr lang="en-US" sz="700" dirty="0"/>
          </a:p>
        </p:txBody>
      </p:sp>
      <p:sp>
        <p:nvSpPr>
          <p:cNvPr id="47" name="Shape 44"/>
          <p:cNvSpPr/>
          <p:nvPr/>
        </p:nvSpPr>
        <p:spPr>
          <a:xfrm>
            <a:off x="7938284" y="3384476"/>
            <a:ext cx="273941" cy="506423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8009612" y="3441538"/>
            <a:ext cx="172378" cy="392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  <p:sp>
        <p:nvSpPr>
          <p:cNvPr id="49" name="Shape 46"/>
          <p:cNvSpPr/>
          <p:nvPr/>
        </p:nvSpPr>
        <p:spPr>
          <a:xfrm>
            <a:off x="8212226" y="3384476"/>
            <a:ext cx="427963" cy="506423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283553" y="3441538"/>
            <a:ext cx="285309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영역</a:t>
            </a:r>
            <a:endParaRPr lang="en-US" sz="700" dirty="0"/>
          </a:p>
        </p:txBody>
      </p:sp>
      <p:sp>
        <p:nvSpPr>
          <p:cNvPr id="51" name="Shape 48"/>
          <p:cNvSpPr/>
          <p:nvPr/>
        </p:nvSpPr>
        <p:spPr>
          <a:xfrm>
            <a:off x="8640189" y="3384476"/>
            <a:ext cx="552340" cy="506423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711516" y="3441538"/>
            <a:ext cx="409686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글자판 입력 전환</a:t>
            </a:r>
            <a:endParaRPr lang="en-US" sz="700" dirty="0"/>
          </a:p>
        </p:txBody>
      </p:sp>
      <p:sp>
        <p:nvSpPr>
          <p:cNvPr id="53" name="Shape 50"/>
          <p:cNvSpPr/>
          <p:nvPr/>
        </p:nvSpPr>
        <p:spPr>
          <a:xfrm>
            <a:off x="9192529" y="3384476"/>
            <a:ext cx="1919816" cy="506423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9263856" y="3441538"/>
            <a:ext cx="1777162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키보드 텍스트 입력 모드 전환.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탭 시 텍스트 입력창 전환.</a:t>
            </a:r>
            <a:endParaRPr lang="en-US" sz="700" dirty="0"/>
          </a:p>
        </p:txBody>
      </p:sp>
      <p:sp>
        <p:nvSpPr>
          <p:cNvPr id="55" name="Shape 52"/>
          <p:cNvSpPr/>
          <p:nvPr/>
        </p:nvSpPr>
        <p:spPr>
          <a:xfrm>
            <a:off x="3298449" y="1055643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56" name="Text 53"/>
          <p:cNvSpPr txBox="1"/>
          <p:nvPr/>
        </p:nvSpPr>
        <p:spPr>
          <a:xfrm>
            <a:off x="3298449" y="1055643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57" name="Shape 54"/>
          <p:cNvSpPr/>
          <p:nvPr/>
        </p:nvSpPr>
        <p:spPr>
          <a:xfrm>
            <a:off x="3298449" y="2332400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58" name="Text 55"/>
          <p:cNvSpPr txBox="1"/>
          <p:nvPr/>
        </p:nvSpPr>
        <p:spPr>
          <a:xfrm>
            <a:off x="3298449" y="2332400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59" name="Shape 56"/>
          <p:cNvSpPr/>
          <p:nvPr/>
        </p:nvSpPr>
        <p:spPr>
          <a:xfrm>
            <a:off x="4111580" y="5991486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60" name="Text 57"/>
          <p:cNvSpPr txBox="1"/>
          <p:nvPr/>
        </p:nvSpPr>
        <p:spPr>
          <a:xfrm>
            <a:off x="4111580" y="5991486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61" name="Shape 58"/>
          <p:cNvSpPr/>
          <p:nvPr/>
        </p:nvSpPr>
        <p:spPr>
          <a:xfrm>
            <a:off x="3298449" y="6419449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62" name="Text 59"/>
          <p:cNvSpPr txBox="1"/>
          <p:nvPr/>
        </p:nvSpPr>
        <p:spPr>
          <a:xfrm>
            <a:off x="3298449" y="6419449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0102" y="57062"/>
            <a:ext cx="9928748" cy="52068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79889" y="238946"/>
            <a:ext cx="554681" cy="156920"/>
          </a:xfrm>
          <a:prstGeom prst="rect">
            <a:avLst/>
          </a:prstGeom>
          <a:solidFill>
            <a:srgbClr val="E9ECEF"/>
          </a:solidFill>
          <a:ln w="7620">
            <a:solidFill>
              <a:srgbClr val="CED4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365482" y="260344"/>
            <a:ext cx="466697" cy="11412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SCR-006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2005755" y="213982"/>
            <a:ext cx="370784" cy="92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2005755" y="328105"/>
            <a:ext cx="1136705" cy="128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 메인 (실시간 지도)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3279503" y="224681"/>
            <a:ext cx="317211" cy="92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Route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3279503" y="338804"/>
            <a:ext cx="418334" cy="1069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 (family)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3928581" y="224681"/>
            <a:ext cx="361685" cy="92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Status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3928581" y="338804"/>
            <a:ext cx="890370" cy="1069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 완료 (실제 화면)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130102" y="577750"/>
            <a:ext cx="6505042" cy="6109064"/>
          </a:xfrm>
          <a:prstGeom prst="rect">
            <a:avLst/>
          </a:prstGeom>
          <a:solidFill>
            <a:srgbClr val="FFFFFF"/>
          </a:solidFill>
          <a:ln w="7620">
            <a:solidFill>
              <a:srgbClr val="DEE2E6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7406" y="584883"/>
            <a:ext cx="2710434" cy="6094799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806329" y="577750"/>
            <a:ext cx="3423706" cy="47004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934718" y="691874"/>
            <a:ext cx="3658373" cy="1141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12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Description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7938284" y="880891"/>
            <a:ext cx="273941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009612" y="937953"/>
            <a:ext cx="172378" cy="998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No.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8212226" y="880891"/>
            <a:ext cx="427963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83553" y="937953"/>
            <a:ext cx="285309" cy="9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영역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8640189" y="880891"/>
            <a:ext cx="435207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711516" y="937953"/>
            <a:ext cx="292553" cy="9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요소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9075396" y="880891"/>
            <a:ext cx="2036949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146723" y="937953"/>
            <a:ext cx="1894295" cy="9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7938284" y="1094873"/>
            <a:ext cx="273941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009612" y="1151934"/>
            <a:ext cx="172378" cy="392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8212226" y="1094873"/>
            <a:ext cx="427963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83553" y="1151934"/>
            <a:ext cx="285309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헤더 영역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8640189" y="1094873"/>
            <a:ext cx="435207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11516" y="1151934"/>
            <a:ext cx="292553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브랜드 헤더</a:t>
            </a:r>
            <a:endParaRPr lang="en-US" sz="700" dirty="0"/>
          </a:p>
        </p:txBody>
      </p:sp>
      <p:sp>
        <p:nvSpPr>
          <p:cNvPr id="29" name="Shape 26"/>
          <p:cNvSpPr/>
          <p:nvPr/>
        </p:nvSpPr>
        <p:spPr>
          <a:xfrm>
            <a:off x="9075396" y="1094873"/>
            <a:ext cx="2036949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146723" y="1151934"/>
            <a:ext cx="1894295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안심맵 로고.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노출조건: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항상 표시.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7938284" y="1601296"/>
            <a:ext cx="273941" cy="506423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009612" y="1658358"/>
            <a:ext cx="172378" cy="392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8212226" y="1601296"/>
            <a:ext cx="427963" cy="506423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283553" y="1658358"/>
            <a:ext cx="285309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영역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8640189" y="1601296"/>
            <a:ext cx="435207" cy="506423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711516" y="1658358"/>
            <a:ext cx="292553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안전구역 바로가기</a:t>
            </a:r>
            <a:endParaRPr lang="en-US" sz="700" dirty="0"/>
          </a:p>
        </p:txBody>
      </p:sp>
      <p:sp>
        <p:nvSpPr>
          <p:cNvPr id="37" name="Shape 34"/>
          <p:cNvSpPr/>
          <p:nvPr/>
        </p:nvSpPr>
        <p:spPr>
          <a:xfrm>
            <a:off x="9075396" y="1601296"/>
            <a:ext cx="2036949" cy="506423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146723" y="1658358"/>
            <a:ext cx="1894295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우상단 안전 구역(SCR-009) 진입 아이콘.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아이콘 탭 → SCR-009.</a:t>
            </a:r>
            <a:endParaRPr lang="en-US" sz="700" dirty="0"/>
          </a:p>
        </p:txBody>
      </p:sp>
      <p:sp>
        <p:nvSpPr>
          <p:cNvPr id="39" name="Shape 36"/>
          <p:cNvSpPr/>
          <p:nvPr/>
        </p:nvSpPr>
        <p:spPr>
          <a:xfrm>
            <a:off x="7938284" y="2107719"/>
            <a:ext cx="273941" cy="101997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009612" y="2164781"/>
            <a:ext cx="172378" cy="9058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41" name="Shape 38"/>
          <p:cNvSpPr/>
          <p:nvPr/>
        </p:nvSpPr>
        <p:spPr>
          <a:xfrm>
            <a:off x="8212226" y="2107719"/>
            <a:ext cx="427963" cy="101997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83553" y="2164781"/>
            <a:ext cx="285309" cy="905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영역</a:t>
            </a:r>
            <a:endParaRPr lang="en-US" sz="700" dirty="0"/>
          </a:p>
        </p:txBody>
      </p:sp>
      <p:sp>
        <p:nvSpPr>
          <p:cNvPr id="43" name="Shape 40"/>
          <p:cNvSpPr/>
          <p:nvPr/>
        </p:nvSpPr>
        <p:spPr>
          <a:xfrm>
            <a:off x="8640189" y="2107719"/>
            <a:ext cx="435207" cy="101997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711516" y="2164781"/>
            <a:ext cx="292553" cy="905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부모님 위치 마커</a:t>
            </a:r>
            <a:endParaRPr lang="en-US" sz="700" dirty="0"/>
          </a:p>
        </p:txBody>
      </p:sp>
      <p:sp>
        <p:nvSpPr>
          <p:cNvPr id="45" name="Shape 42"/>
          <p:cNvSpPr/>
          <p:nvPr/>
        </p:nvSpPr>
        <p:spPr>
          <a:xfrm>
            <a:off x="9075396" y="2107719"/>
            <a:ext cx="2036949" cy="101997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146723" y="2164781"/>
            <a:ext cx="1894295" cy="905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 부모님 전원 실시간 마커.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이름 라벨 + 마커. 위치 갱신 시 이동.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인터랙션: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마커 탭 시 하단 정보 카드 갱신.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 연동: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GET /api/location/current/{groupId}/parents (WebSocket 갱신).</a:t>
            </a:r>
            <a:endParaRPr lang="en-US" sz="700" dirty="0"/>
          </a:p>
        </p:txBody>
      </p:sp>
      <p:sp>
        <p:nvSpPr>
          <p:cNvPr id="47" name="Shape 44"/>
          <p:cNvSpPr/>
          <p:nvPr/>
        </p:nvSpPr>
        <p:spPr>
          <a:xfrm>
            <a:off x="7938284" y="3127698"/>
            <a:ext cx="273941" cy="763201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8009612" y="3184760"/>
            <a:ext cx="172378" cy="6490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  <p:sp>
        <p:nvSpPr>
          <p:cNvPr id="49" name="Shape 46"/>
          <p:cNvSpPr/>
          <p:nvPr/>
        </p:nvSpPr>
        <p:spPr>
          <a:xfrm>
            <a:off x="8212226" y="3127698"/>
            <a:ext cx="427963" cy="763201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283553" y="3184760"/>
            <a:ext cx="285309" cy="64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영역</a:t>
            </a:r>
            <a:endParaRPr lang="en-US" sz="700" dirty="0"/>
          </a:p>
        </p:txBody>
      </p:sp>
      <p:sp>
        <p:nvSpPr>
          <p:cNvPr id="51" name="Shape 48"/>
          <p:cNvSpPr/>
          <p:nvPr/>
        </p:nvSpPr>
        <p:spPr>
          <a:xfrm>
            <a:off x="8640189" y="3127698"/>
            <a:ext cx="435207" cy="763201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711516" y="3184760"/>
            <a:ext cx="292553" cy="64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SOS 수신 미리보기</a:t>
            </a:r>
            <a:endParaRPr lang="en-US" sz="700" dirty="0"/>
          </a:p>
        </p:txBody>
      </p:sp>
      <p:sp>
        <p:nvSpPr>
          <p:cNvPr id="53" name="Shape 50"/>
          <p:cNvSpPr/>
          <p:nvPr/>
        </p:nvSpPr>
        <p:spPr>
          <a:xfrm>
            <a:off x="9075396" y="3127698"/>
            <a:ext cx="2036949" cy="763201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9146723" y="3184760"/>
            <a:ext cx="1894295" cy="64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SOS 발생 시 상단 알림 배너 미리보기.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노출조건: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SOS 수신 시 표시.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화면 연동: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가족이 보는 SOS 알림은 부모님 SOS 발송(관리자 통계 집계)과 동일 이벤트.</a:t>
            </a:r>
            <a:endParaRPr lang="en-US" sz="700" dirty="0"/>
          </a:p>
        </p:txBody>
      </p:sp>
      <p:sp>
        <p:nvSpPr>
          <p:cNvPr id="55" name="Shape 52"/>
          <p:cNvSpPr/>
          <p:nvPr/>
        </p:nvSpPr>
        <p:spPr>
          <a:xfrm>
            <a:off x="7938284" y="3890899"/>
            <a:ext cx="273941" cy="763201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8009612" y="3947961"/>
            <a:ext cx="172378" cy="6490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700" dirty="0"/>
          </a:p>
        </p:txBody>
      </p:sp>
      <p:sp>
        <p:nvSpPr>
          <p:cNvPr id="57" name="Shape 54"/>
          <p:cNvSpPr/>
          <p:nvPr/>
        </p:nvSpPr>
        <p:spPr>
          <a:xfrm>
            <a:off x="8212226" y="3890899"/>
            <a:ext cx="427963" cy="763201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8283553" y="3947961"/>
            <a:ext cx="285309" cy="64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영역</a:t>
            </a:r>
            <a:endParaRPr lang="en-US" sz="700" dirty="0"/>
          </a:p>
        </p:txBody>
      </p:sp>
      <p:sp>
        <p:nvSpPr>
          <p:cNvPr id="59" name="Shape 56"/>
          <p:cNvSpPr/>
          <p:nvPr/>
        </p:nvSpPr>
        <p:spPr>
          <a:xfrm>
            <a:off x="8640189" y="3890899"/>
            <a:ext cx="435207" cy="763201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8711516" y="3947961"/>
            <a:ext cx="292553" cy="64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부모님 정보 카드</a:t>
            </a:r>
            <a:endParaRPr lang="en-US" sz="700" dirty="0"/>
          </a:p>
        </p:txBody>
      </p:sp>
      <p:sp>
        <p:nvSpPr>
          <p:cNvPr id="61" name="Shape 58"/>
          <p:cNvSpPr/>
          <p:nvPr/>
        </p:nvSpPr>
        <p:spPr>
          <a:xfrm>
            <a:off x="9075396" y="3890899"/>
            <a:ext cx="2036949" cy="763201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9146723" y="3947961"/>
            <a:ext cx="1894295" cy="64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 부모 이름·주소·배터리·갱신 시각.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좌우 스와이프로 부모 전환.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배터리%·마지막 갱신 시간 표시.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 연동: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GET /api/location/address (역지오코딩).</a:t>
            </a:r>
            <a:endParaRPr lang="en-US" sz="700" dirty="0"/>
          </a:p>
        </p:txBody>
      </p:sp>
      <p:sp>
        <p:nvSpPr>
          <p:cNvPr id="63" name="Shape 60"/>
          <p:cNvSpPr/>
          <p:nvPr/>
        </p:nvSpPr>
        <p:spPr>
          <a:xfrm>
            <a:off x="7938284" y="4654101"/>
            <a:ext cx="273941" cy="506423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009612" y="4711162"/>
            <a:ext cx="172378" cy="392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700" dirty="0"/>
          </a:p>
        </p:txBody>
      </p:sp>
      <p:sp>
        <p:nvSpPr>
          <p:cNvPr id="65" name="Shape 62"/>
          <p:cNvSpPr/>
          <p:nvPr/>
        </p:nvSpPr>
        <p:spPr>
          <a:xfrm>
            <a:off x="8212226" y="4654101"/>
            <a:ext cx="427963" cy="506423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8283553" y="4711162"/>
            <a:ext cx="285309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내비 영역</a:t>
            </a:r>
            <a:endParaRPr lang="en-US" sz="700" dirty="0"/>
          </a:p>
        </p:txBody>
      </p:sp>
      <p:sp>
        <p:nvSpPr>
          <p:cNvPr id="67" name="Shape 64"/>
          <p:cNvSpPr/>
          <p:nvPr/>
        </p:nvSpPr>
        <p:spPr>
          <a:xfrm>
            <a:off x="8640189" y="4654101"/>
            <a:ext cx="435207" cy="506423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8711516" y="4711162"/>
            <a:ext cx="292553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하단 탭바</a:t>
            </a:r>
            <a:endParaRPr lang="en-US" sz="700" dirty="0"/>
          </a:p>
        </p:txBody>
      </p:sp>
      <p:sp>
        <p:nvSpPr>
          <p:cNvPr id="69" name="Shape 66"/>
          <p:cNvSpPr/>
          <p:nvPr/>
        </p:nvSpPr>
        <p:spPr>
          <a:xfrm>
            <a:off x="9075396" y="4654101"/>
            <a:ext cx="2036949" cy="506423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9146723" y="4711162"/>
            <a:ext cx="1894295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지도·이동 기록·채팅 전환.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탭 선택 시 화면 전환.</a:t>
            </a:r>
            <a:endParaRPr lang="en-US" sz="700" dirty="0"/>
          </a:p>
        </p:txBody>
      </p:sp>
      <p:sp>
        <p:nvSpPr>
          <p:cNvPr id="71" name="Shape 68"/>
          <p:cNvSpPr/>
          <p:nvPr/>
        </p:nvSpPr>
        <p:spPr>
          <a:xfrm>
            <a:off x="3298449" y="813130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2" name="Text 69"/>
          <p:cNvSpPr txBox="1"/>
          <p:nvPr/>
        </p:nvSpPr>
        <p:spPr>
          <a:xfrm>
            <a:off x="3298449" y="813130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73" name="Shape 70"/>
          <p:cNvSpPr/>
          <p:nvPr/>
        </p:nvSpPr>
        <p:spPr>
          <a:xfrm>
            <a:off x="5195753" y="1483606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4" name="Text 71"/>
          <p:cNvSpPr txBox="1"/>
          <p:nvPr/>
        </p:nvSpPr>
        <p:spPr>
          <a:xfrm>
            <a:off x="5195753" y="1483606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75" name="Shape 72"/>
          <p:cNvSpPr/>
          <p:nvPr/>
        </p:nvSpPr>
        <p:spPr>
          <a:xfrm>
            <a:off x="3840536" y="2824558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6" name="Text 73"/>
          <p:cNvSpPr txBox="1"/>
          <p:nvPr/>
        </p:nvSpPr>
        <p:spPr>
          <a:xfrm>
            <a:off x="3840536" y="2824558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77" name="Shape 74"/>
          <p:cNvSpPr/>
          <p:nvPr/>
        </p:nvSpPr>
        <p:spPr>
          <a:xfrm>
            <a:off x="3298449" y="4286765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8" name="Text 75"/>
          <p:cNvSpPr txBox="1"/>
          <p:nvPr/>
        </p:nvSpPr>
        <p:spPr>
          <a:xfrm>
            <a:off x="3298449" y="4286765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  <p:sp>
        <p:nvSpPr>
          <p:cNvPr id="79" name="Shape 76"/>
          <p:cNvSpPr/>
          <p:nvPr/>
        </p:nvSpPr>
        <p:spPr>
          <a:xfrm>
            <a:off x="3298449" y="5263948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80" name="Text 77"/>
          <p:cNvSpPr txBox="1"/>
          <p:nvPr/>
        </p:nvSpPr>
        <p:spPr>
          <a:xfrm>
            <a:off x="3298449" y="5263948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700" dirty="0"/>
          </a:p>
        </p:txBody>
      </p:sp>
      <p:sp>
        <p:nvSpPr>
          <p:cNvPr id="81" name="Shape 78"/>
          <p:cNvSpPr/>
          <p:nvPr/>
        </p:nvSpPr>
        <p:spPr>
          <a:xfrm>
            <a:off x="3298449" y="6233998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82" name="Text 79"/>
          <p:cNvSpPr txBox="1"/>
          <p:nvPr/>
        </p:nvSpPr>
        <p:spPr>
          <a:xfrm>
            <a:off x="3298449" y="6233998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0102" y="57062"/>
            <a:ext cx="9928748" cy="52068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79889" y="238946"/>
            <a:ext cx="547436" cy="156920"/>
          </a:xfrm>
          <a:prstGeom prst="rect">
            <a:avLst/>
          </a:prstGeom>
          <a:solidFill>
            <a:srgbClr val="E9ECEF"/>
          </a:solidFill>
          <a:ln w="7620">
            <a:solidFill>
              <a:srgbClr val="CED4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365482" y="260344"/>
            <a:ext cx="458366" cy="11412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SCR-007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1998511" y="213982"/>
            <a:ext cx="370784" cy="92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1998511" y="328105"/>
            <a:ext cx="696455" cy="128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 이력 조회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2889432" y="224681"/>
            <a:ext cx="317211" cy="92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Route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2889432" y="338804"/>
            <a:ext cx="792195" cy="1069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 (family-history)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3863606" y="224681"/>
            <a:ext cx="361685" cy="92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Status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3863606" y="338804"/>
            <a:ext cx="890370" cy="1069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 완료 (실제 화면)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130102" y="577750"/>
            <a:ext cx="6505042" cy="6109064"/>
          </a:xfrm>
          <a:prstGeom prst="rect">
            <a:avLst/>
          </a:prstGeom>
          <a:solidFill>
            <a:srgbClr val="FFFFFF"/>
          </a:solidFill>
          <a:ln w="7620">
            <a:solidFill>
              <a:srgbClr val="DEE2E6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7406" y="584883"/>
            <a:ext cx="2710434" cy="6094799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806329" y="577750"/>
            <a:ext cx="3423706" cy="327391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934718" y="691874"/>
            <a:ext cx="3658373" cy="1141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12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Description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7938284" y="880891"/>
            <a:ext cx="273941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009612" y="937953"/>
            <a:ext cx="172378" cy="998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No.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8212226" y="880891"/>
            <a:ext cx="427963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83553" y="937953"/>
            <a:ext cx="285309" cy="9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영역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8640189" y="880891"/>
            <a:ext cx="655765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711516" y="937953"/>
            <a:ext cx="513110" cy="9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요소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9295953" y="880891"/>
            <a:ext cx="1816392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367281" y="937953"/>
            <a:ext cx="1673738" cy="9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7938284" y="1094873"/>
            <a:ext cx="273941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009612" y="1151934"/>
            <a:ext cx="172378" cy="392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8212226" y="1094873"/>
            <a:ext cx="427963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83553" y="1151934"/>
            <a:ext cx="285309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헤더 영역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8640189" y="1094873"/>
            <a:ext cx="655765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11516" y="1151934"/>
            <a:ext cx="513110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이력 헤더</a:t>
            </a:r>
            <a:endParaRPr lang="en-US" sz="700" dirty="0"/>
          </a:p>
        </p:txBody>
      </p:sp>
      <p:sp>
        <p:nvSpPr>
          <p:cNvPr id="29" name="Shape 26"/>
          <p:cNvSpPr/>
          <p:nvPr/>
        </p:nvSpPr>
        <p:spPr>
          <a:xfrm>
            <a:off x="9295953" y="1094873"/>
            <a:ext cx="1816392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367281" y="1151934"/>
            <a:ext cx="1673738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'이동 기록 조회' + 뒤로가기.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뒤로가기 탭 → 지도(SCR-006).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7938284" y="1601296"/>
            <a:ext cx="273941" cy="763201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009612" y="1658358"/>
            <a:ext cx="172378" cy="6490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8212226" y="1601296"/>
            <a:ext cx="427963" cy="763201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283553" y="1658358"/>
            <a:ext cx="285309" cy="64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영역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8640189" y="1601296"/>
            <a:ext cx="655765" cy="763201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711516" y="1658358"/>
            <a:ext cx="513110" cy="64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 선택</a:t>
            </a:r>
            <a:endParaRPr lang="en-US" sz="700" dirty="0"/>
          </a:p>
        </p:txBody>
      </p:sp>
      <p:sp>
        <p:nvSpPr>
          <p:cNvPr id="37" name="Shape 34"/>
          <p:cNvSpPr/>
          <p:nvPr/>
        </p:nvSpPr>
        <p:spPr>
          <a:xfrm>
            <a:off x="9295953" y="1601296"/>
            <a:ext cx="1816392" cy="763201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367281" y="1658358"/>
            <a:ext cx="1673738" cy="64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 날짜 드롭다운(최대 7일).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날짜 선택 → 해당일 경로 조회.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예외 Case: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기록 없는 날 빈 상태 표시.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 연동: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GET /api/location/history?date=.</a:t>
            </a:r>
            <a:endParaRPr lang="en-US" sz="700" dirty="0"/>
          </a:p>
        </p:txBody>
      </p:sp>
      <p:sp>
        <p:nvSpPr>
          <p:cNvPr id="39" name="Shape 36"/>
          <p:cNvSpPr/>
          <p:nvPr/>
        </p:nvSpPr>
        <p:spPr>
          <a:xfrm>
            <a:off x="7938284" y="2364497"/>
            <a:ext cx="273941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009612" y="2421559"/>
            <a:ext cx="172378" cy="392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41" name="Shape 38"/>
          <p:cNvSpPr/>
          <p:nvPr/>
        </p:nvSpPr>
        <p:spPr>
          <a:xfrm>
            <a:off x="8212226" y="2364497"/>
            <a:ext cx="427963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83553" y="2421559"/>
            <a:ext cx="285309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영역</a:t>
            </a:r>
            <a:endParaRPr lang="en-US" sz="700" dirty="0"/>
          </a:p>
        </p:txBody>
      </p:sp>
      <p:sp>
        <p:nvSpPr>
          <p:cNvPr id="43" name="Shape 40"/>
          <p:cNvSpPr/>
          <p:nvPr/>
        </p:nvSpPr>
        <p:spPr>
          <a:xfrm>
            <a:off x="8640189" y="2364497"/>
            <a:ext cx="655765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711516" y="2421559"/>
            <a:ext cx="513110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 경로</a:t>
            </a:r>
            <a:endParaRPr lang="en-US" sz="700" dirty="0"/>
          </a:p>
        </p:txBody>
      </p:sp>
      <p:sp>
        <p:nvSpPr>
          <p:cNvPr id="45" name="Shape 42"/>
          <p:cNvSpPr/>
          <p:nvPr/>
        </p:nvSpPr>
        <p:spPr>
          <a:xfrm>
            <a:off x="9295953" y="2364497"/>
            <a:ext cx="1816392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367281" y="2421559"/>
            <a:ext cx="1673738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출발·도착 마커 + 경로 폴리라인.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경로 점선 + 출발/도착 핀.</a:t>
            </a:r>
            <a:endParaRPr lang="en-US" sz="700" dirty="0"/>
          </a:p>
        </p:txBody>
      </p:sp>
      <p:sp>
        <p:nvSpPr>
          <p:cNvPr id="47" name="Shape 44"/>
          <p:cNvSpPr/>
          <p:nvPr/>
        </p:nvSpPr>
        <p:spPr>
          <a:xfrm>
            <a:off x="7938284" y="2870920"/>
            <a:ext cx="273941" cy="506423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8009612" y="2927982"/>
            <a:ext cx="172378" cy="392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  <p:sp>
        <p:nvSpPr>
          <p:cNvPr id="49" name="Shape 46"/>
          <p:cNvSpPr/>
          <p:nvPr/>
        </p:nvSpPr>
        <p:spPr>
          <a:xfrm>
            <a:off x="8212226" y="2870920"/>
            <a:ext cx="427963" cy="506423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283553" y="2927982"/>
            <a:ext cx="285309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영역</a:t>
            </a:r>
            <a:endParaRPr lang="en-US" sz="700" dirty="0"/>
          </a:p>
        </p:txBody>
      </p:sp>
      <p:sp>
        <p:nvSpPr>
          <p:cNvPr id="51" name="Shape 48"/>
          <p:cNvSpPr/>
          <p:nvPr/>
        </p:nvSpPr>
        <p:spPr>
          <a:xfrm>
            <a:off x="8640189" y="2870920"/>
            <a:ext cx="655765" cy="506423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711516" y="2927982"/>
            <a:ext cx="513110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시간대별 이력</a:t>
            </a:r>
            <a:endParaRPr lang="en-US" sz="700" dirty="0"/>
          </a:p>
        </p:txBody>
      </p:sp>
      <p:sp>
        <p:nvSpPr>
          <p:cNvPr id="53" name="Shape 50"/>
          <p:cNvSpPr/>
          <p:nvPr/>
        </p:nvSpPr>
        <p:spPr>
          <a:xfrm>
            <a:off x="9295953" y="2870920"/>
            <a:ext cx="1816392" cy="506423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9367281" y="2927982"/>
            <a:ext cx="1673738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시각·주소 타임라인(출발/경유/도착).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시간순 정렬, 출발/도착 뱃지.</a:t>
            </a:r>
            <a:endParaRPr lang="en-US" sz="700" dirty="0"/>
          </a:p>
        </p:txBody>
      </p:sp>
      <p:sp>
        <p:nvSpPr>
          <p:cNvPr id="55" name="Shape 52"/>
          <p:cNvSpPr/>
          <p:nvPr/>
        </p:nvSpPr>
        <p:spPr>
          <a:xfrm>
            <a:off x="7938284" y="3377343"/>
            <a:ext cx="273941" cy="356636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8009612" y="3434405"/>
            <a:ext cx="172378" cy="2425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700" dirty="0"/>
          </a:p>
        </p:txBody>
      </p:sp>
      <p:sp>
        <p:nvSpPr>
          <p:cNvPr id="57" name="Shape 54"/>
          <p:cNvSpPr/>
          <p:nvPr/>
        </p:nvSpPr>
        <p:spPr>
          <a:xfrm>
            <a:off x="8212226" y="3377343"/>
            <a:ext cx="427963" cy="356636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8283553" y="3434405"/>
            <a:ext cx="285309" cy="242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내비 영역</a:t>
            </a:r>
            <a:endParaRPr lang="en-US" sz="700" dirty="0"/>
          </a:p>
        </p:txBody>
      </p:sp>
      <p:sp>
        <p:nvSpPr>
          <p:cNvPr id="59" name="Shape 56"/>
          <p:cNvSpPr/>
          <p:nvPr/>
        </p:nvSpPr>
        <p:spPr>
          <a:xfrm>
            <a:off x="8640189" y="3377343"/>
            <a:ext cx="655765" cy="356636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8711516" y="3434405"/>
            <a:ext cx="513110" cy="242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하단 탭바</a:t>
            </a:r>
            <a:endParaRPr lang="en-US" sz="700" dirty="0"/>
          </a:p>
        </p:txBody>
      </p:sp>
      <p:sp>
        <p:nvSpPr>
          <p:cNvPr id="61" name="Shape 58"/>
          <p:cNvSpPr/>
          <p:nvPr/>
        </p:nvSpPr>
        <p:spPr>
          <a:xfrm>
            <a:off x="9295953" y="3377343"/>
            <a:ext cx="1816392" cy="356636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9367281" y="3434405"/>
            <a:ext cx="1673738" cy="242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지도·이동 기록·채팅 전환.</a:t>
            </a:r>
            <a:endParaRPr lang="en-US" sz="700" dirty="0"/>
          </a:p>
        </p:txBody>
      </p:sp>
      <p:sp>
        <p:nvSpPr>
          <p:cNvPr id="63" name="Shape 60"/>
          <p:cNvSpPr/>
          <p:nvPr/>
        </p:nvSpPr>
        <p:spPr>
          <a:xfrm>
            <a:off x="3298449" y="1055643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64" name="Text 61"/>
          <p:cNvSpPr txBox="1"/>
          <p:nvPr/>
        </p:nvSpPr>
        <p:spPr>
          <a:xfrm>
            <a:off x="3298449" y="1055643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65" name="Shape 62"/>
          <p:cNvSpPr/>
          <p:nvPr/>
        </p:nvSpPr>
        <p:spPr>
          <a:xfrm>
            <a:off x="3298449" y="1604862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66" name="Text 63"/>
          <p:cNvSpPr txBox="1"/>
          <p:nvPr/>
        </p:nvSpPr>
        <p:spPr>
          <a:xfrm>
            <a:off x="3298449" y="1604862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67" name="Shape 64"/>
          <p:cNvSpPr/>
          <p:nvPr/>
        </p:nvSpPr>
        <p:spPr>
          <a:xfrm>
            <a:off x="3840536" y="2517851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68" name="Text 65"/>
          <p:cNvSpPr txBox="1"/>
          <p:nvPr/>
        </p:nvSpPr>
        <p:spPr>
          <a:xfrm>
            <a:off x="3840536" y="2517851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69" name="Shape 66"/>
          <p:cNvSpPr/>
          <p:nvPr/>
        </p:nvSpPr>
        <p:spPr>
          <a:xfrm>
            <a:off x="3298449" y="4286765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0" name="Text 67"/>
          <p:cNvSpPr txBox="1"/>
          <p:nvPr/>
        </p:nvSpPr>
        <p:spPr>
          <a:xfrm>
            <a:off x="3298449" y="4286765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  <p:sp>
        <p:nvSpPr>
          <p:cNvPr id="71" name="Shape 68"/>
          <p:cNvSpPr/>
          <p:nvPr/>
        </p:nvSpPr>
        <p:spPr>
          <a:xfrm>
            <a:off x="3298449" y="6233998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2" name="Text 69"/>
          <p:cNvSpPr txBox="1"/>
          <p:nvPr/>
        </p:nvSpPr>
        <p:spPr>
          <a:xfrm>
            <a:off x="3298449" y="6233998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0102" y="57062"/>
            <a:ext cx="9928748" cy="52068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79889" y="238946"/>
            <a:ext cx="554569" cy="156920"/>
          </a:xfrm>
          <a:prstGeom prst="rect">
            <a:avLst/>
          </a:prstGeom>
          <a:solidFill>
            <a:srgbClr val="E9ECEF"/>
          </a:solidFill>
          <a:ln w="7620">
            <a:solidFill>
              <a:srgbClr val="CED4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365482" y="260344"/>
            <a:ext cx="466569" cy="11412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SCR-008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2005644" y="213982"/>
            <a:ext cx="370784" cy="92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2005644" y="328105"/>
            <a:ext cx="560983" cy="128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 채팅방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2778764" y="224681"/>
            <a:ext cx="317211" cy="92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Route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2778764" y="338804"/>
            <a:ext cx="674154" cy="1069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 (family-chat)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3650293" y="224681"/>
            <a:ext cx="361685" cy="92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Status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3650293" y="338804"/>
            <a:ext cx="890370" cy="1069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 완료 (실제 화면)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130102" y="577750"/>
            <a:ext cx="6505042" cy="6109064"/>
          </a:xfrm>
          <a:prstGeom prst="rect">
            <a:avLst/>
          </a:prstGeom>
          <a:solidFill>
            <a:srgbClr val="FFFFFF"/>
          </a:solidFill>
          <a:ln w="7620">
            <a:solidFill>
              <a:srgbClr val="DEE2E6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7406" y="584883"/>
            <a:ext cx="2710434" cy="6094799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806329" y="577750"/>
            <a:ext cx="3423706" cy="34237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934718" y="691874"/>
            <a:ext cx="3658373" cy="1141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12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Description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7938284" y="880891"/>
            <a:ext cx="273941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009612" y="937953"/>
            <a:ext cx="172378" cy="998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No.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8212226" y="880891"/>
            <a:ext cx="427963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83553" y="937953"/>
            <a:ext cx="285309" cy="9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영역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8640189" y="880891"/>
            <a:ext cx="448916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711516" y="937953"/>
            <a:ext cx="306261" cy="9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요소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9089104" y="880891"/>
            <a:ext cx="2023241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160432" y="937953"/>
            <a:ext cx="1880587" cy="9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7938284" y="1094873"/>
            <a:ext cx="273941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009612" y="1151934"/>
            <a:ext cx="172378" cy="392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8212226" y="1094873"/>
            <a:ext cx="427963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83553" y="1151934"/>
            <a:ext cx="285309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헤더 영역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8640189" y="1094873"/>
            <a:ext cx="448916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11516" y="1151934"/>
            <a:ext cx="306261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채팅 헤더</a:t>
            </a:r>
            <a:endParaRPr lang="en-US" sz="700" dirty="0"/>
          </a:p>
        </p:txBody>
      </p:sp>
      <p:sp>
        <p:nvSpPr>
          <p:cNvPr id="29" name="Shape 26"/>
          <p:cNvSpPr/>
          <p:nvPr/>
        </p:nvSpPr>
        <p:spPr>
          <a:xfrm>
            <a:off x="9089104" y="1094873"/>
            <a:ext cx="2023241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160432" y="1151934"/>
            <a:ext cx="1880587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'가족 그룹 채팅방' + 그룹명·인원 + 뒤로가기.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그룹명·구성원 수 표시.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7938284" y="1601296"/>
            <a:ext cx="273941" cy="506423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009612" y="1658358"/>
            <a:ext cx="172378" cy="392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8212226" y="1601296"/>
            <a:ext cx="427963" cy="506423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283553" y="1658358"/>
            <a:ext cx="285309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채팅 영역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8640189" y="1601296"/>
            <a:ext cx="448916" cy="506423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711516" y="1658358"/>
            <a:ext cx="306261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 구분선</a:t>
            </a:r>
            <a:endParaRPr lang="en-US" sz="700" dirty="0"/>
          </a:p>
        </p:txBody>
      </p:sp>
      <p:sp>
        <p:nvSpPr>
          <p:cNvPr id="37" name="Shape 34"/>
          <p:cNvSpPr/>
          <p:nvPr/>
        </p:nvSpPr>
        <p:spPr>
          <a:xfrm>
            <a:off x="9089104" y="1601296"/>
            <a:ext cx="2023241" cy="506423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160432" y="1658358"/>
            <a:ext cx="1880587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 날짜 구분 칩.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노출조건: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날짜 경계마다 표시.</a:t>
            </a:r>
            <a:endParaRPr lang="en-US" sz="700" dirty="0"/>
          </a:p>
        </p:txBody>
      </p:sp>
      <p:sp>
        <p:nvSpPr>
          <p:cNvPr id="39" name="Shape 36"/>
          <p:cNvSpPr/>
          <p:nvPr/>
        </p:nvSpPr>
        <p:spPr>
          <a:xfrm>
            <a:off x="7938284" y="2107719"/>
            <a:ext cx="273941" cy="763201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009612" y="2164781"/>
            <a:ext cx="172378" cy="6490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41" name="Shape 38"/>
          <p:cNvSpPr/>
          <p:nvPr/>
        </p:nvSpPr>
        <p:spPr>
          <a:xfrm>
            <a:off x="8212226" y="2107719"/>
            <a:ext cx="427963" cy="763201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83553" y="2164781"/>
            <a:ext cx="285309" cy="64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채팅 영역</a:t>
            </a:r>
            <a:endParaRPr lang="en-US" sz="700" dirty="0"/>
          </a:p>
        </p:txBody>
      </p:sp>
      <p:sp>
        <p:nvSpPr>
          <p:cNvPr id="43" name="Shape 40"/>
          <p:cNvSpPr/>
          <p:nvPr/>
        </p:nvSpPr>
        <p:spPr>
          <a:xfrm>
            <a:off x="8640189" y="2107719"/>
            <a:ext cx="448916" cy="763201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711516" y="2164781"/>
            <a:ext cx="306261" cy="64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메시지 말풍선</a:t>
            </a:r>
            <a:endParaRPr lang="en-US" sz="700" dirty="0"/>
          </a:p>
        </p:txBody>
      </p:sp>
      <p:sp>
        <p:nvSpPr>
          <p:cNvPr id="45" name="Shape 42"/>
          <p:cNvSpPr/>
          <p:nvPr/>
        </p:nvSpPr>
        <p:spPr>
          <a:xfrm>
            <a:off x="9089104" y="2107719"/>
            <a:ext cx="2023241" cy="763201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160432" y="2164781"/>
            <a:ext cx="1880587" cy="64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발신자별 좌/우 정렬 말풍선·시각·읽음.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본인 우측 green, 타인 좌측. 읽음·시간 표기.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 연동: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GET/POST /api/chat/{groupId}/messages (WebSocket).</a:t>
            </a:r>
            <a:endParaRPr lang="en-US" sz="700" dirty="0"/>
          </a:p>
        </p:txBody>
      </p:sp>
      <p:sp>
        <p:nvSpPr>
          <p:cNvPr id="47" name="Shape 44"/>
          <p:cNvSpPr/>
          <p:nvPr/>
        </p:nvSpPr>
        <p:spPr>
          <a:xfrm>
            <a:off x="7938284" y="2870920"/>
            <a:ext cx="273941" cy="634812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8009612" y="2927982"/>
            <a:ext cx="172378" cy="5206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  <p:sp>
        <p:nvSpPr>
          <p:cNvPr id="49" name="Shape 46"/>
          <p:cNvSpPr/>
          <p:nvPr/>
        </p:nvSpPr>
        <p:spPr>
          <a:xfrm>
            <a:off x="8212226" y="2870920"/>
            <a:ext cx="427963" cy="634812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283553" y="2927982"/>
            <a:ext cx="285309" cy="520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영역</a:t>
            </a:r>
            <a:endParaRPr lang="en-US" sz="700" dirty="0"/>
          </a:p>
        </p:txBody>
      </p:sp>
      <p:sp>
        <p:nvSpPr>
          <p:cNvPr id="51" name="Shape 48"/>
          <p:cNvSpPr/>
          <p:nvPr/>
        </p:nvSpPr>
        <p:spPr>
          <a:xfrm>
            <a:off x="8640189" y="2870920"/>
            <a:ext cx="448916" cy="634812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711516" y="2927982"/>
            <a:ext cx="306261" cy="520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메시지 입력창</a:t>
            </a:r>
            <a:endParaRPr lang="en-US" sz="700" dirty="0"/>
          </a:p>
        </p:txBody>
      </p:sp>
      <p:sp>
        <p:nvSpPr>
          <p:cNvPr id="53" name="Shape 50"/>
          <p:cNvSpPr/>
          <p:nvPr/>
        </p:nvSpPr>
        <p:spPr>
          <a:xfrm>
            <a:off x="9089104" y="2870920"/>
            <a:ext cx="2023241" cy="634812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9160432" y="2927982"/>
            <a:ext cx="1880587" cy="520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안부 메시지 입력 필드.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텍스트 입력.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내용 있을 때 전송 활성.</a:t>
            </a:r>
            <a:endParaRPr lang="en-US" sz="700" dirty="0"/>
          </a:p>
        </p:txBody>
      </p:sp>
      <p:sp>
        <p:nvSpPr>
          <p:cNvPr id="55" name="Shape 52"/>
          <p:cNvSpPr/>
          <p:nvPr/>
        </p:nvSpPr>
        <p:spPr>
          <a:xfrm>
            <a:off x="7938284" y="3505732"/>
            <a:ext cx="273941" cy="378034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8009612" y="3562794"/>
            <a:ext cx="172378" cy="2639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700" dirty="0"/>
          </a:p>
        </p:txBody>
      </p:sp>
      <p:sp>
        <p:nvSpPr>
          <p:cNvPr id="57" name="Shape 54"/>
          <p:cNvSpPr/>
          <p:nvPr/>
        </p:nvSpPr>
        <p:spPr>
          <a:xfrm>
            <a:off x="8212226" y="3505732"/>
            <a:ext cx="427963" cy="378034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8283553" y="3562794"/>
            <a:ext cx="285309" cy="263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내비 영역</a:t>
            </a:r>
            <a:endParaRPr lang="en-US" sz="700" dirty="0"/>
          </a:p>
        </p:txBody>
      </p:sp>
      <p:sp>
        <p:nvSpPr>
          <p:cNvPr id="59" name="Shape 56"/>
          <p:cNvSpPr/>
          <p:nvPr/>
        </p:nvSpPr>
        <p:spPr>
          <a:xfrm>
            <a:off x="8640189" y="3505732"/>
            <a:ext cx="448916" cy="378034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8711516" y="3562794"/>
            <a:ext cx="306261" cy="263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하단 탭바</a:t>
            </a:r>
            <a:endParaRPr lang="en-US" sz="700" dirty="0"/>
          </a:p>
        </p:txBody>
      </p:sp>
      <p:sp>
        <p:nvSpPr>
          <p:cNvPr id="61" name="Shape 58"/>
          <p:cNvSpPr/>
          <p:nvPr/>
        </p:nvSpPr>
        <p:spPr>
          <a:xfrm>
            <a:off x="9089104" y="3505732"/>
            <a:ext cx="2023241" cy="378034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9160432" y="3562794"/>
            <a:ext cx="1880587" cy="263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지도·이동 기록·채팅 전환.</a:t>
            </a:r>
            <a:endParaRPr lang="en-US" sz="700" dirty="0"/>
          </a:p>
        </p:txBody>
      </p:sp>
      <p:sp>
        <p:nvSpPr>
          <p:cNvPr id="63" name="Shape 60"/>
          <p:cNvSpPr/>
          <p:nvPr/>
        </p:nvSpPr>
        <p:spPr>
          <a:xfrm>
            <a:off x="3298449" y="991448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64" name="Text 61"/>
          <p:cNvSpPr txBox="1"/>
          <p:nvPr/>
        </p:nvSpPr>
        <p:spPr>
          <a:xfrm>
            <a:off x="3298449" y="991448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65" name="Shape 62"/>
          <p:cNvSpPr/>
          <p:nvPr/>
        </p:nvSpPr>
        <p:spPr>
          <a:xfrm>
            <a:off x="4111580" y="1604862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66" name="Text 63"/>
          <p:cNvSpPr txBox="1"/>
          <p:nvPr/>
        </p:nvSpPr>
        <p:spPr>
          <a:xfrm>
            <a:off x="4111580" y="1604862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67" name="Shape 64"/>
          <p:cNvSpPr/>
          <p:nvPr/>
        </p:nvSpPr>
        <p:spPr>
          <a:xfrm>
            <a:off x="3298449" y="2945814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68" name="Text 65"/>
          <p:cNvSpPr txBox="1"/>
          <p:nvPr/>
        </p:nvSpPr>
        <p:spPr>
          <a:xfrm>
            <a:off x="3298449" y="2945814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69" name="Shape 66"/>
          <p:cNvSpPr/>
          <p:nvPr/>
        </p:nvSpPr>
        <p:spPr>
          <a:xfrm>
            <a:off x="3298449" y="6055680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0" name="Text 67"/>
          <p:cNvSpPr txBox="1"/>
          <p:nvPr/>
        </p:nvSpPr>
        <p:spPr>
          <a:xfrm>
            <a:off x="3298449" y="6055680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  <p:sp>
        <p:nvSpPr>
          <p:cNvPr id="71" name="Shape 68"/>
          <p:cNvSpPr/>
          <p:nvPr/>
        </p:nvSpPr>
        <p:spPr>
          <a:xfrm>
            <a:off x="3298449" y="6419449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2" name="Text 69"/>
          <p:cNvSpPr txBox="1"/>
          <p:nvPr/>
        </p:nvSpPr>
        <p:spPr>
          <a:xfrm>
            <a:off x="3298449" y="6419449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0102" y="57062"/>
            <a:ext cx="9928748" cy="52068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79889" y="238946"/>
            <a:ext cx="554681" cy="156920"/>
          </a:xfrm>
          <a:prstGeom prst="rect">
            <a:avLst/>
          </a:prstGeom>
          <a:solidFill>
            <a:srgbClr val="E9ECEF"/>
          </a:solidFill>
          <a:ln w="7620">
            <a:solidFill>
              <a:srgbClr val="CED4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365482" y="260344"/>
            <a:ext cx="466697" cy="11412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SCR-009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2005755" y="213982"/>
            <a:ext cx="370784" cy="92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2005755" y="328105"/>
            <a:ext cx="1243083" cy="128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 구역 설정 (지오펜싱)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3372005" y="224681"/>
            <a:ext cx="317211" cy="92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Route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3372005" y="338804"/>
            <a:ext cx="912927" cy="1069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 (family-geofence)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4451164" y="224681"/>
            <a:ext cx="361685" cy="92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Status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4451164" y="338804"/>
            <a:ext cx="890370" cy="1069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 완료 (실제 화면)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130102" y="577750"/>
            <a:ext cx="6505042" cy="6109064"/>
          </a:xfrm>
          <a:prstGeom prst="rect">
            <a:avLst/>
          </a:prstGeom>
          <a:solidFill>
            <a:srgbClr val="FFFFFF"/>
          </a:solidFill>
          <a:ln w="7620">
            <a:solidFill>
              <a:srgbClr val="DEE2E6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7406" y="584883"/>
            <a:ext cx="2710434" cy="6094799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806329" y="577750"/>
            <a:ext cx="3423706" cy="457207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934718" y="691874"/>
            <a:ext cx="3658373" cy="1141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12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Description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7938284" y="880891"/>
            <a:ext cx="273941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009612" y="937953"/>
            <a:ext cx="172378" cy="998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No.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8212226" y="880891"/>
            <a:ext cx="427963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83553" y="937953"/>
            <a:ext cx="285309" cy="9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영역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8640189" y="880891"/>
            <a:ext cx="576970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711516" y="937953"/>
            <a:ext cx="434316" cy="9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요소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9217159" y="880891"/>
            <a:ext cx="1895186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288486" y="937953"/>
            <a:ext cx="1752532" cy="9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7938284" y="1094873"/>
            <a:ext cx="273941" cy="634812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009612" y="1151934"/>
            <a:ext cx="172378" cy="5206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8212226" y="1094873"/>
            <a:ext cx="427963" cy="634812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83553" y="1151934"/>
            <a:ext cx="285309" cy="520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헤더 영역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8640189" y="1094873"/>
            <a:ext cx="576970" cy="634812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11516" y="1151934"/>
            <a:ext cx="434316" cy="520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 구역 헤더</a:t>
            </a:r>
            <a:endParaRPr lang="en-US" sz="700" dirty="0"/>
          </a:p>
        </p:txBody>
      </p:sp>
      <p:sp>
        <p:nvSpPr>
          <p:cNvPr id="29" name="Shape 26"/>
          <p:cNvSpPr/>
          <p:nvPr/>
        </p:nvSpPr>
        <p:spPr>
          <a:xfrm>
            <a:off x="9217159" y="1094873"/>
            <a:ext cx="1895186" cy="634812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288486" y="1151934"/>
            <a:ext cx="1752532" cy="520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'안전 구역 설정' + 뒤로가기.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뒤로가기 탭. 미저장 변경 시 확인 모달.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예외 Case: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미저장 시 확인 모달.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7938284" y="1729685"/>
            <a:ext cx="273941" cy="378034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009612" y="1786747"/>
            <a:ext cx="172378" cy="2639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8212226" y="1729685"/>
            <a:ext cx="427963" cy="378034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283553" y="1786747"/>
            <a:ext cx="285309" cy="263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영역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8640189" y="1729685"/>
            <a:ext cx="576970" cy="378034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711516" y="1786747"/>
            <a:ext cx="434316" cy="263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 이동 안내</a:t>
            </a:r>
            <a:endParaRPr lang="en-US" sz="700" dirty="0"/>
          </a:p>
        </p:txBody>
      </p:sp>
      <p:sp>
        <p:nvSpPr>
          <p:cNvPr id="37" name="Shape 34"/>
          <p:cNvSpPr/>
          <p:nvPr/>
        </p:nvSpPr>
        <p:spPr>
          <a:xfrm>
            <a:off x="9217159" y="1729685"/>
            <a:ext cx="1895186" cy="378034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288486" y="1786747"/>
            <a:ext cx="1752532" cy="263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탭으로 중심 위치 이동 안내 배너.</a:t>
            </a:r>
            <a:endParaRPr lang="en-US" sz="700" dirty="0"/>
          </a:p>
        </p:txBody>
      </p:sp>
      <p:sp>
        <p:nvSpPr>
          <p:cNvPr id="39" name="Shape 36"/>
          <p:cNvSpPr/>
          <p:nvPr/>
        </p:nvSpPr>
        <p:spPr>
          <a:xfrm>
            <a:off x="7938284" y="2107719"/>
            <a:ext cx="273941" cy="634812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009612" y="2164781"/>
            <a:ext cx="172378" cy="5206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41" name="Shape 38"/>
          <p:cNvSpPr/>
          <p:nvPr/>
        </p:nvSpPr>
        <p:spPr>
          <a:xfrm>
            <a:off x="8212226" y="2107719"/>
            <a:ext cx="427963" cy="634812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83553" y="2164781"/>
            <a:ext cx="285309" cy="520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영역</a:t>
            </a:r>
            <a:endParaRPr lang="en-US" sz="700" dirty="0"/>
          </a:p>
        </p:txBody>
      </p:sp>
      <p:sp>
        <p:nvSpPr>
          <p:cNvPr id="43" name="Shape 40"/>
          <p:cNvSpPr/>
          <p:nvPr/>
        </p:nvSpPr>
        <p:spPr>
          <a:xfrm>
            <a:off x="8640189" y="2107719"/>
            <a:ext cx="576970" cy="634812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711516" y="2164781"/>
            <a:ext cx="434316" cy="520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구역 중심 마커</a:t>
            </a:r>
            <a:endParaRPr lang="en-US" sz="700" dirty="0"/>
          </a:p>
        </p:txBody>
      </p:sp>
      <p:sp>
        <p:nvSpPr>
          <p:cNvPr id="45" name="Shape 42"/>
          <p:cNvSpPr/>
          <p:nvPr/>
        </p:nvSpPr>
        <p:spPr>
          <a:xfrm>
            <a:off x="9217159" y="2107719"/>
            <a:ext cx="1895186" cy="634812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288486" y="2164781"/>
            <a:ext cx="1752532" cy="520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집/구역 중심 마커 + 반경 원.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지도 탭/드래그로 중심 이동.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반경 값에 따라 원 크기 변화.</a:t>
            </a:r>
            <a:endParaRPr lang="en-US" sz="700" dirty="0"/>
          </a:p>
        </p:txBody>
      </p:sp>
      <p:sp>
        <p:nvSpPr>
          <p:cNvPr id="47" name="Shape 44"/>
          <p:cNvSpPr/>
          <p:nvPr/>
        </p:nvSpPr>
        <p:spPr>
          <a:xfrm>
            <a:off x="7938284" y="2742531"/>
            <a:ext cx="273941" cy="634812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8009612" y="2799593"/>
            <a:ext cx="172378" cy="5206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  <p:sp>
        <p:nvSpPr>
          <p:cNvPr id="49" name="Shape 46"/>
          <p:cNvSpPr/>
          <p:nvPr/>
        </p:nvSpPr>
        <p:spPr>
          <a:xfrm>
            <a:off x="8212226" y="2742531"/>
            <a:ext cx="427963" cy="634812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283553" y="2799593"/>
            <a:ext cx="285309" cy="520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영역</a:t>
            </a:r>
            <a:endParaRPr lang="en-US" sz="700" dirty="0"/>
          </a:p>
        </p:txBody>
      </p:sp>
      <p:sp>
        <p:nvSpPr>
          <p:cNvPr id="51" name="Shape 48"/>
          <p:cNvSpPr/>
          <p:nvPr/>
        </p:nvSpPr>
        <p:spPr>
          <a:xfrm>
            <a:off x="8640189" y="2742531"/>
            <a:ext cx="576970" cy="634812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711516" y="2799593"/>
            <a:ext cx="434316" cy="520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구역 이름</a:t>
            </a:r>
            <a:endParaRPr lang="en-US" sz="700" dirty="0"/>
          </a:p>
        </p:txBody>
      </p:sp>
      <p:sp>
        <p:nvSpPr>
          <p:cNvPr id="53" name="Shape 50"/>
          <p:cNvSpPr/>
          <p:nvPr/>
        </p:nvSpPr>
        <p:spPr>
          <a:xfrm>
            <a:off x="9217159" y="2742531"/>
            <a:ext cx="1895186" cy="634812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9288486" y="2799593"/>
            <a:ext cx="1752532" cy="520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 구역 명칭 입력.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텍스트 입력.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기본값 예시 표시.</a:t>
            </a:r>
            <a:endParaRPr lang="en-US" sz="700" dirty="0"/>
          </a:p>
        </p:txBody>
      </p:sp>
      <p:sp>
        <p:nvSpPr>
          <p:cNvPr id="55" name="Shape 52"/>
          <p:cNvSpPr/>
          <p:nvPr/>
        </p:nvSpPr>
        <p:spPr>
          <a:xfrm>
            <a:off x="7938284" y="3377343"/>
            <a:ext cx="273941" cy="634812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8009612" y="3434405"/>
            <a:ext cx="172378" cy="5206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700" dirty="0"/>
          </a:p>
        </p:txBody>
      </p:sp>
      <p:sp>
        <p:nvSpPr>
          <p:cNvPr id="57" name="Shape 54"/>
          <p:cNvSpPr/>
          <p:nvPr/>
        </p:nvSpPr>
        <p:spPr>
          <a:xfrm>
            <a:off x="8212226" y="3377343"/>
            <a:ext cx="427963" cy="634812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8283553" y="3434405"/>
            <a:ext cx="285309" cy="520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영역</a:t>
            </a:r>
            <a:endParaRPr lang="en-US" sz="700" dirty="0"/>
          </a:p>
        </p:txBody>
      </p:sp>
      <p:sp>
        <p:nvSpPr>
          <p:cNvPr id="59" name="Shape 56"/>
          <p:cNvSpPr/>
          <p:nvPr/>
        </p:nvSpPr>
        <p:spPr>
          <a:xfrm>
            <a:off x="8640189" y="3377343"/>
            <a:ext cx="576970" cy="634812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8711516" y="3434405"/>
            <a:ext cx="434316" cy="520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반경 설정 슬라이더</a:t>
            </a:r>
            <a:endParaRPr lang="en-US" sz="700" dirty="0"/>
          </a:p>
        </p:txBody>
      </p:sp>
      <p:sp>
        <p:nvSpPr>
          <p:cNvPr id="61" name="Shape 58"/>
          <p:cNvSpPr/>
          <p:nvPr/>
        </p:nvSpPr>
        <p:spPr>
          <a:xfrm>
            <a:off x="9217159" y="3377343"/>
            <a:ext cx="1895186" cy="634812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9288486" y="3434405"/>
            <a:ext cx="1752532" cy="520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100m~5km 반경 슬라이더.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슬라이더 드래그.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현재 반경 값 표시.</a:t>
            </a:r>
            <a:endParaRPr lang="en-US" sz="700" dirty="0"/>
          </a:p>
        </p:txBody>
      </p:sp>
      <p:sp>
        <p:nvSpPr>
          <p:cNvPr id="63" name="Shape 60"/>
          <p:cNvSpPr/>
          <p:nvPr/>
        </p:nvSpPr>
        <p:spPr>
          <a:xfrm>
            <a:off x="7938284" y="4012156"/>
            <a:ext cx="273941" cy="101997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009612" y="4069217"/>
            <a:ext cx="172378" cy="9058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700" dirty="0"/>
          </a:p>
        </p:txBody>
      </p:sp>
      <p:sp>
        <p:nvSpPr>
          <p:cNvPr id="65" name="Shape 62"/>
          <p:cNvSpPr/>
          <p:nvPr/>
        </p:nvSpPr>
        <p:spPr>
          <a:xfrm>
            <a:off x="8212226" y="4012156"/>
            <a:ext cx="427963" cy="101997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8283553" y="4069217"/>
            <a:ext cx="285309" cy="905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CTA 영역</a:t>
            </a:r>
            <a:endParaRPr lang="en-US" sz="700" dirty="0"/>
          </a:p>
        </p:txBody>
      </p:sp>
      <p:sp>
        <p:nvSpPr>
          <p:cNvPr id="67" name="Shape 64"/>
          <p:cNvSpPr/>
          <p:nvPr/>
        </p:nvSpPr>
        <p:spPr>
          <a:xfrm>
            <a:off x="8640189" y="4012156"/>
            <a:ext cx="576970" cy="101997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8711516" y="4069217"/>
            <a:ext cx="434316" cy="905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 구역 저장</a:t>
            </a:r>
            <a:endParaRPr lang="en-US" sz="700" dirty="0"/>
          </a:p>
        </p:txBody>
      </p:sp>
      <p:sp>
        <p:nvSpPr>
          <p:cNvPr id="69" name="Shape 66"/>
          <p:cNvSpPr/>
          <p:nvPr/>
        </p:nvSpPr>
        <p:spPr>
          <a:xfrm>
            <a:off x="9217159" y="4012156"/>
            <a:ext cx="1895186" cy="101997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9288486" y="4069217"/>
            <a:ext cx="1752532" cy="905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지오펜스 등록.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예외 Case: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이름 미입력 시 비활성.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화면 연동: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이탈/진입 이벤트는 운영 알림·통계로 활용 가능.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 연동: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POST /api/geofence { name, center, radius }.</a:t>
            </a:r>
            <a:endParaRPr lang="en-US" sz="700" dirty="0"/>
          </a:p>
        </p:txBody>
      </p:sp>
      <p:sp>
        <p:nvSpPr>
          <p:cNvPr id="71" name="Shape 68"/>
          <p:cNvSpPr/>
          <p:nvPr/>
        </p:nvSpPr>
        <p:spPr>
          <a:xfrm>
            <a:off x="3298449" y="1055643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2" name="Text 69"/>
          <p:cNvSpPr txBox="1"/>
          <p:nvPr/>
        </p:nvSpPr>
        <p:spPr>
          <a:xfrm>
            <a:off x="3298449" y="1055643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73" name="Shape 70"/>
          <p:cNvSpPr/>
          <p:nvPr/>
        </p:nvSpPr>
        <p:spPr>
          <a:xfrm>
            <a:off x="3298449" y="1604862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4" name="Text 71"/>
          <p:cNvSpPr txBox="1"/>
          <p:nvPr/>
        </p:nvSpPr>
        <p:spPr>
          <a:xfrm>
            <a:off x="3298449" y="1604862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75" name="Shape 72"/>
          <p:cNvSpPr/>
          <p:nvPr/>
        </p:nvSpPr>
        <p:spPr>
          <a:xfrm>
            <a:off x="4247101" y="2154082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6" name="Text 73"/>
          <p:cNvSpPr txBox="1"/>
          <p:nvPr/>
        </p:nvSpPr>
        <p:spPr>
          <a:xfrm>
            <a:off x="4247101" y="2154082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77" name="Shape 74"/>
          <p:cNvSpPr/>
          <p:nvPr/>
        </p:nvSpPr>
        <p:spPr>
          <a:xfrm>
            <a:off x="3298449" y="4044253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8" name="Text 75"/>
          <p:cNvSpPr txBox="1"/>
          <p:nvPr/>
        </p:nvSpPr>
        <p:spPr>
          <a:xfrm>
            <a:off x="3298449" y="4044253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  <p:sp>
        <p:nvSpPr>
          <p:cNvPr id="79" name="Shape 76"/>
          <p:cNvSpPr/>
          <p:nvPr/>
        </p:nvSpPr>
        <p:spPr>
          <a:xfrm>
            <a:off x="3298449" y="4593472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80" name="Text 77"/>
          <p:cNvSpPr txBox="1"/>
          <p:nvPr/>
        </p:nvSpPr>
        <p:spPr>
          <a:xfrm>
            <a:off x="3298449" y="4593472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700" dirty="0"/>
          </a:p>
        </p:txBody>
      </p:sp>
      <p:sp>
        <p:nvSpPr>
          <p:cNvPr id="81" name="Shape 78"/>
          <p:cNvSpPr/>
          <p:nvPr/>
        </p:nvSpPr>
        <p:spPr>
          <a:xfrm>
            <a:off x="3298449" y="6298193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82" name="Text 79"/>
          <p:cNvSpPr txBox="1"/>
          <p:nvPr/>
        </p:nvSpPr>
        <p:spPr>
          <a:xfrm>
            <a:off x="3298449" y="6298193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0102" y="57062"/>
            <a:ext cx="9928748" cy="520689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79889" y="238946"/>
            <a:ext cx="539858" cy="156920"/>
          </a:xfrm>
          <a:prstGeom prst="rect">
            <a:avLst/>
          </a:prstGeom>
          <a:solidFill>
            <a:srgbClr val="E9ECEF"/>
          </a:solidFill>
          <a:ln w="7620">
            <a:solidFill>
              <a:srgbClr val="CED4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365482" y="260344"/>
            <a:ext cx="449651" cy="11412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SCR-010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1990932" y="213982"/>
            <a:ext cx="370784" cy="92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1990932" y="328105"/>
            <a:ext cx="1387270" cy="128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 설정 (구성원·알림·계정)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3482563" y="224681"/>
            <a:ext cx="317211" cy="92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Route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3482563" y="338804"/>
            <a:ext cx="846024" cy="1069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 (family-settings)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4503545" y="224681"/>
            <a:ext cx="361685" cy="92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Status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4503545" y="338804"/>
            <a:ext cx="890370" cy="1069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 완료 (실제 화면)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130102" y="577750"/>
            <a:ext cx="6505042" cy="6109064"/>
          </a:xfrm>
          <a:prstGeom prst="rect">
            <a:avLst/>
          </a:prstGeom>
          <a:solidFill>
            <a:srgbClr val="FFFFFF"/>
          </a:solidFill>
          <a:ln w="7620">
            <a:solidFill>
              <a:srgbClr val="DEE2E6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7406" y="584883"/>
            <a:ext cx="2710434" cy="6094799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806329" y="577750"/>
            <a:ext cx="3423706" cy="521401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934718" y="691874"/>
            <a:ext cx="3658373" cy="1141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12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Description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7938284" y="880891"/>
            <a:ext cx="273941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009612" y="937953"/>
            <a:ext cx="172378" cy="998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No.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8212226" y="880891"/>
            <a:ext cx="427963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83553" y="937953"/>
            <a:ext cx="285309" cy="9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영역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8640189" y="880891"/>
            <a:ext cx="577639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711516" y="937953"/>
            <a:ext cx="434985" cy="9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요소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9217828" y="880891"/>
            <a:ext cx="1894518" cy="213982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289155" y="937953"/>
            <a:ext cx="1751863" cy="9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7938284" y="1094873"/>
            <a:ext cx="273941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009612" y="1151934"/>
            <a:ext cx="172378" cy="392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8212226" y="1094873"/>
            <a:ext cx="427963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83553" y="1151934"/>
            <a:ext cx="285309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헤더 영역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8640189" y="1094873"/>
            <a:ext cx="577639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11516" y="1151934"/>
            <a:ext cx="434985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 설정 헤더</a:t>
            </a:r>
            <a:endParaRPr lang="en-US" sz="700" dirty="0"/>
          </a:p>
        </p:txBody>
      </p:sp>
      <p:sp>
        <p:nvSpPr>
          <p:cNvPr id="29" name="Shape 26"/>
          <p:cNvSpPr/>
          <p:nvPr/>
        </p:nvSpPr>
        <p:spPr>
          <a:xfrm>
            <a:off x="9217828" y="1094873"/>
            <a:ext cx="1894518" cy="50642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289155" y="1151934"/>
            <a:ext cx="1751863" cy="3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'가족 설정' + 뒤로가기.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뒤로가기 탭 → 이전.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7938284" y="1601296"/>
            <a:ext cx="273941" cy="763201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009612" y="1658358"/>
            <a:ext cx="172378" cy="6490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8212226" y="1601296"/>
            <a:ext cx="427963" cy="763201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283553" y="1658358"/>
            <a:ext cx="285309" cy="64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영역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8640189" y="1601296"/>
            <a:ext cx="577639" cy="763201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711516" y="1658358"/>
            <a:ext cx="434985" cy="64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Google 계정 연동</a:t>
            </a:r>
            <a:endParaRPr lang="en-US" sz="700" dirty="0"/>
          </a:p>
        </p:txBody>
      </p:sp>
      <p:sp>
        <p:nvSpPr>
          <p:cNvPr id="37" name="Shape 34"/>
          <p:cNvSpPr/>
          <p:nvPr/>
        </p:nvSpPr>
        <p:spPr>
          <a:xfrm>
            <a:off x="9217828" y="1601296"/>
            <a:ext cx="1894518" cy="763201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289155" y="1658358"/>
            <a:ext cx="1751863" cy="64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소셜 계정 연동 카드(미연동/연동).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연동 탭 → Google OAuth.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연동 상태 뱃지.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 연동: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POST /api/auth/google.</a:t>
            </a:r>
            <a:endParaRPr lang="en-US" sz="700" dirty="0"/>
          </a:p>
        </p:txBody>
      </p:sp>
      <p:sp>
        <p:nvSpPr>
          <p:cNvPr id="39" name="Shape 36"/>
          <p:cNvSpPr/>
          <p:nvPr/>
        </p:nvSpPr>
        <p:spPr>
          <a:xfrm>
            <a:off x="7938284" y="2364497"/>
            <a:ext cx="273941" cy="891590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009612" y="2421559"/>
            <a:ext cx="172378" cy="7774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41" name="Shape 38"/>
          <p:cNvSpPr/>
          <p:nvPr/>
        </p:nvSpPr>
        <p:spPr>
          <a:xfrm>
            <a:off x="8212226" y="2364497"/>
            <a:ext cx="427963" cy="891590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83553" y="2421559"/>
            <a:ext cx="285309" cy="7774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영역</a:t>
            </a:r>
            <a:endParaRPr lang="en-US" sz="700" dirty="0"/>
          </a:p>
        </p:txBody>
      </p:sp>
      <p:sp>
        <p:nvSpPr>
          <p:cNvPr id="43" name="Shape 40"/>
          <p:cNvSpPr/>
          <p:nvPr/>
        </p:nvSpPr>
        <p:spPr>
          <a:xfrm>
            <a:off x="8640189" y="2364497"/>
            <a:ext cx="577639" cy="891590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711516" y="2421559"/>
            <a:ext cx="434985" cy="7774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 구성원 목록</a:t>
            </a:r>
            <a:endParaRPr lang="en-US" sz="700" dirty="0"/>
          </a:p>
        </p:txBody>
      </p:sp>
      <p:sp>
        <p:nvSpPr>
          <p:cNvPr id="45" name="Shape 42"/>
          <p:cNvSpPr/>
          <p:nvPr/>
        </p:nvSpPr>
        <p:spPr>
          <a:xfrm>
            <a:off x="9217828" y="2364497"/>
            <a:ext cx="1894518" cy="891590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289155" y="2421559"/>
            <a:ext cx="1751863" cy="7774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구성원 이름·번호·연결 상태.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구성원별 활성 뱃지.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화면 연동: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구성원 구성은 관리자 '회원 및 그룹 관리' 그룹 상세와 동기화.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 연동: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GET /api/groups/{id}/members.</a:t>
            </a:r>
            <a:endParaRPr lang="en-US" sz="700" dirty="0"/>
          </a:p>
        </p:txBody>
      </p:sp>
      <p:sp>
        <p:nvSpPr>
          <p:cNvPr id="47" name="Shape 44"/>
          <p:cNvSpPr/>
          <p:nvPr/>
        </p:nvSpPr>
        <p:spPr>
          <a:xfrm>
            <a:off x="7938284" y="3256087"/>
            <a:ext cx="273941" cy="763201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8009612" y="3313149"/>
            <a:ext cx="172378" cy="6490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  <p:sp>
        <p:nvSpPr>
          <p:cNvPr id="49" name="Shape 46"/>
          <p:cNvSpPr/>
          <p:nvPr/>
        </p:nvSpPr>
        <p:spPr>
          <a:xfrm>
            <a:off x="8212226" y="3256087"/>
            <a:ext cx="427963" cy="763201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283553" y="3313149"/>
            <a:ext cx="285309" cy="64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영역</a:t>
            </a:r>
            <a:endParaRPr lang="en-US" sz="700" dirty="0"/>
          </a:p>
        </p:txBody>
      </p:sp>
      <p:sp>
        <p:nvSpPr>
          <p:cNvPr id="51" name="Shape 48"/>
          <p:cNvSpPr/>
          <p:nvPr/>
        </p:nvSpPr>
        <p:spPr>
          <a:xfrm>
            <a:off x="8640189" y="3256087"/>
            <a:ext cx="577639" cy="763201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711516" y="3313149"/>
            <a:ext cx="434985" cy="64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 구성원 초대</a:t>
            </a:r>
            <a:endParaRPr lang="en-US" sz="700" dirty="0"/>
          </a:p>
        </p:txBody>
      </p:sp>
      <p:sp>
        <p:nvSpPr>
          <p:cNvPr id="53" name="Shape 50"/>
          <p:cNvSpPr/>
          <p:nvPr/>
        </p:nvSpPr>
        <p:spPr>
          <a:xfrm>
            <a:off x="9217828" y="3256087"/>
            <a:ext cx="1894518" cy="763201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9289155" y="3313149"/>
            <a:ext cx="1751863" cy="64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초대 코드/QR로 구성원 추가.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탭 → 초대 코드 화면.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 연동: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POST /api/groups/{id}/members (초대).</a:t>
            </a:r>
            <a:endParaRPr lang="en-US" sz="700" dirty="0"/>
          </a:p>
        </p:txBody>
      </p:sp>
      <p:sp>
        <p:nvSpPr>
          <p:cNvPr id="55" name="Shape 52"/>
          <p:cNvSpPr/>
          <p:nvPr/>
        </p:nvSpPr>
        <p:spPr>
          <a:xfrm>
            <a:off x="7938284" y="4019288"/>
            <a:ext cx="273941" cy="891590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8009612" y="4076350"/>
            <a:ext cx="172378" cy="7774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700" dirty="0"/>
          </a:p>
        </p:txBody>
      </p:sp>
      <p:sp>
        <p:nvSpPr>
          <p:cNvPr id="57" name="Shape 54"/>
          <p:cNvSpPr/>
          <p:nvPr/>
        </p:nvSpPr>
        <p:spPr>
          <a:xfrm>
            <a:off x="8212226" y="4019288"/>
            <a:ext cx="427963" cy="891590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8283553" y="4076350"/>
            <a:ext cx="285309" cy="7774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 영역</a:t>
            </a:r>
            <a:endParaRPr lang="en-US" sz="700" dirty="0"/>
          </a:p>
        </p:txBody>
      </p:sp>
      <p:sp>
        <p:nvSpPr>
          <p:cNvPr id="59" name="Shape 56"/>
          <p:cNvSpPr/>
          <p:nvPr/>
        </p:nvSpPr>
        <p:spPr>
          <a:xfrm>
            <a:off x="8640189" y="4019288"/>
            <a:ext cx="577639" cy="891590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8711516" y="4076350"/>
            <a:ext cx="434985" cy="7774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알림 설정</a:t>
            </a:r>
            <a:endParaRPr lang="en-US" sz="700" dirty="0"/>
          </a:p>
        </p:txBody>
      </p:sp>
      <p:sp>
        <p:nvSpPr>
          <p:cNvPr id="61" name="Shape 58"/>
          <p:cNvSpPr/>
          <p:nvPr/>
        </p:nvSpPr>
        <p:spPr>
          <a:xfrm>
            <a:off x="9217828" y="4019288"/>
            <a:ext cx="1894518" cy="891590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9289155" y="4076350"/>
            <a:ext cx="1751863" cy="7774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SOS(항상 켜짐)·위치 갱신·배터리 알림 토글.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토글 ON/OFF (SOS 제외).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SOS는 '항상 켜짐' 고정.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 연동: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PATCH /api/users/me/settings { alerts }.</a:t>
            </a:r>
            <a:endParaRPr lang="en-US" sz="700" dirty="0"/>
          </a:p>
        </p:txBody>
      </p:sp>
      <p:sp>
        <p:nvSpPr>
          <p:cNvPr id="63" name="Shape 60"/>
          <p:cNvSpPr/>
          <p:nvPr/>
        </p:nvSpPr>
        <p:spPr>
          <a:xfrm>
            <a:off x="7938284" y="4910879"/>
            <a:ext cx="273941" cy="763201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009612" y="4967940"/>
            <a:ext cx="172378" cy="6490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700" dirty="0"/>
          </a:p>
        </p:txBody>
      </p:sp>
      <p:sp>
        <p:nvSpPr>
          <p:cNvPr id="65" name="Shape 62"/>
          <p:cNvSpPr/>
          <p:nvPr/>
        </p:nvSpPr>
        <p:spPr>
          <a:xfrm>
            <a:off x="8212226" y="4910879"/>
            <a:ext cx="427963" cy="763201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8283553" y="4967940"/>
            <a:ext cx="285309" cy="64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 영역</a:t>
            </a:r>
            <a:endParaRPr lang="en-US" sz="700" dirty="0"/>
          </a:p>
        </p:txBody>
      </p:sp>
      <p:sp>
        <p:nvSpPr>
          <p:cNvPr id="67" name="Shape 64"/>
          <p:cNvSpPr/>
          <p:nvPr/>
        </p:nvSpPr>
        <p:spPr>
          <a:xfrm>
            <a:off x="8640189" y="4910879"/>
            <a:ext cx="577639" cy="763201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8711516" y="4967940"/>
            <a:ext cx="434985" cy="64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 갱신 주기</a:t>
            </a:r>
            <a:endParaRPr lang="en-US" sz="700" dirty="0"/>
          </a:p>
        </p:txBody>
      </p:sp>
      <p:sp>
        <p:nvSpPr>
          <p:cNvPr id="69" name="Shape 66"/>
          <p:cNvSpPr/>
          <p:nvPr/>
        </p:nvSpPr>
        <p:spPr>
          <a:xfrm>
            <a:off x="9217828" y="4910879"/>
            <a:ext cx="1894518" cy="763201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9289155" y="4967940"/>
            <a:ext cx="1751863" cy="64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갱신 주기 선택(30초 등).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주기 옵션 선택.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 연동: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PATCH /api/users/me/settings { interval }.</a:t>
            </a:r>
            <a:endParaRPr lang="en-US" sz="700" dirty="0"/>
          </a:p>
        </p:txBody>
      </p:sp>
      <p:sp>
        <p:nvSpPr>
          <p:cNvPr id="71" name="Shape 68"/>
          <p:cNvSpPr/>
          <p:nvPr/>
        </p:nvSpPr>
        <p:spPr>
          <a:xfrm>
            <a:off x="3298449" y="1055643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2" name="Text 69"/>
          <p:cNvSpPr txBox="1"/>
          <p:nvPr/>
        </p:nvSpPr>
        <p:spPr>
          <a:xfrm>
            <a:off x="3298449" y="1055643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73" name="Shape 70"/>
          <p:cNvSpPr/>
          <p:nvPr/>
        </p:nvSpPr>
        <p:spPr>
          <a:xfrm>
            <a:off x="3298449" y="2154082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4" name="Text 71"/>
          <p:cNvSpPr txBox="1"/>
          <p:nvPr/>
        </p:nvSpPr>
        <p:spPr>
          <a:xfrm>
            <a:off x="3298449" y="2154082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75" name="Shape 72"/>
          <p:cNvSpPr/>
          <p:nvPr/>
        </p:nvSpPr>
        <p:spPr>
          <a:xfrm>
            <a:off x="3298449" y="3552095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6" name="Text 73"/>
          <p:cNvSpPr txBox="1"/>
          <p:nvPr/>
        </p:nvSpPr>
        <p:spPr>
          <a:xfrm>
            <a:off x="3298449" y="3552095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77" name="Shape 74"/>
          <p:cNvSpPr/>
          <p:nvPr/>
        </p:nvSpPr>
        <p:spPr>
          <a:xfrm>
            <a:off x="3298449" y="4044253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8" name="Text 75"/>
          <p:cNvSpPr txBox="1"/>
          <p:nvPr/>
        </p:nvSpPr>
        <p:spPr>
          <a:xfrm>
            <a:off x="3298449" y="4044253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  <p:sp>
        <p:nvSpPr>
          <p:cNvPr id="79" name="Shape 76"/>
          <p:cNvSpPr/>
          <p:nvPr/>
        </p:nvSpPr>
        <p:spPr>
          <a:xfrm>
            <a:off x="3298449" y="5014303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80" name="Text 77"/>
          <p:cNvSpPr txBox="1"/>
          <p:nvPr/>
        </p:nvSpPr>
        <p:spPr>
          <a:xfrm>
            <a:off x="3298449" y="5014303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700" dirty="0"/>
          </a:p>
        </p:txBody>
      </p:sp>
      <p:sp>
        <p:nvSpPr>
          <p:cNvPr id="81" name="Shape 78"/>
          <p:cNvSpPr/>
          <p:nvPr/>
        </p:nvSpPr>
        <p:spPr>
          <a:xfrm>
            <a:off x="3298449" y="5748973"/>
            <a:ext cx="156920" cy="1569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82" name="Text 79"/>
          <p:cNvSpPr txBox="1"/>
          <p:nvPr/>
        </p:nvSpPr>
        <p:spPr>
          <a:xfrm>
            <a:off x="3298449" y="5748973"/>
            <a:ext cx="164766" cy="156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3149" y="288652"/>
            <a:ext cx="11782654" cy="617912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0905" y="504498"/>
            <a:ext cx="622409" cy="186220"/>
          </a:xfrm>
          <a:prstGeom prst="rect">
            <a:avLst/>
          </a:prstGeom>
          <a:solidFill>
            <a:srgbClr val="E9ECEF"/>
          </a:solidFill>
          <a:ln w="7620">
            <a:solidFill>
              <a:srgbClr val="CED4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82479" y="529892"/>
            <a:ext cx="512621" cy="13543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SCR-011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1206463" y="474872"/>
            <a:ext cx="440018" cy="1100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1206463" y="610305"/>
            <a:ext cx="1499984" cy="1523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- 회원 및 그룹 관리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2849379" y="487569"/>
            <a:ext cx="376441" cy="1100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Route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2849379" y="623002"/>
            <a:ext cx="1531773" cy="1269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admin.ansimmap.kr/groups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4519937" y="487569"/>
            <a:ext cx="429219" cy="1100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Status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4519937" y="623002"/>
            <a:ext cx="1056621" cy="1269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 완료 (실제 화면)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03149" y="906564"/>
            <a:ext cx="7719670" cy="5527351"/>
          </a:xfrm>
          <a:prstGeom prst="rect">
            <a:avLst/>
          </a:prstGeom>
          <a:solidFill>
            <a:srgbClr val="FFFFFF"/>
          </a:solidFill>
          <a:ln w="7620">
            <a:solidFill>
              <a:srgbClr val="DEE2E6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455" y="915029"/>
            <a:ext cx="6433058" cy="4143265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8125968" y="906564"/>
            <a:ext cx="4062984" cy="5730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278330" y="1041997"/>
            <a:ext cx="3773462" cy="1354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12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Description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8282562" y="1266307"/>
            <a:ext cx="325092" cy="253936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67208" y="1334024"/>
            <a:ext cx="204564" cy="1185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No.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8607654" y="1266307"/>
            <a:ext cx="507873" cy="253936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692299" y="1334024"/>
            <a:ext cx="338582" cy="118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영역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9115527" y="1266307"/>
            <a:ext cx="693432" cy="253936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200172" y="1334024"/>
            <a:ext cx="524141" cy="118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요소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9808959" y="1266307"/>
            <a:ext cx="2240328" cy="253936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893604" y="1334024"/>
            <a:ext cx="2071037" cy="118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8282562" y="1520244"/>
            <a:ext cx="325092" cy="753345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367208" y="1587960"/>
            <a:ext cx="204564" cy="6179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8607654" y="1520244"/>
            <a:ext cx="507873" cy="753345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92299" y="1587960"/>
            <a:ext cx="338582" cy="617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내비 영역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9115527" y="1520244"/>
            <a:ext cx="693432" cy="753345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200172" y="1587960"/>
            <a:ext cx="524141" cy="617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상단 탭 메뉴</a:t>
            </a:r>
            <a:endParaRPr lang="en-US" sz="700" dirty="0"/>
          </a:p>
        </p:txBody>
      </p:sp>
      <p:sp>
        <p:nvSpPr>
          <p:cNvPr id="29" name="Shape 26"/>
          <p:cNvSpPr/>
          <p:nvPr/>
        </p:nvSpPr>
        <p:spPr>
          <a:xfrm>
            <a:off x="9808959" y="1520244"/>
            <a:ext cx="2240328" cy="753345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893604" y="1587960"/>
            <a:ext cx="2071037" cy="617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회원·그룹/SMS·알림톡/통계 탭.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탭 클릭으로 화면 전환.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선택 탭 active 강조.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8282562" y="2273589"/>
            <a:ext cx="325092" cy="753345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367208" y="2341305"/>
            <a:ext cx="204564" cy="6179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8607654" y="2273589"/>
            <a:ext cx="507873" cy="753345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692299" y="2341305"/>
            <a:ext cx="338582" cy="617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영역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9115527" y="2273589"/>
            <a:ext cx="693432" cy="753345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9200172" y="2341305"/>
            <a:ext cx="524141" cy="617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검색</a:t>
            </a:r>
            <a:endParaRPr lang="en-US" sz="700" dirty="0"/>
          </a:p>
        </p:txBody>
      </p:sp>
      <p:sp>
        <p:nvSpPr>
          <p:cNvPr id="37" name="Shape 34"/>
          <p:cNvSpPr/>
          <p:nvPr/>
        </p:nvSpPr>
        <p:spPr>
          <a:xfrm>
            <a:off x="9808959" y="2273589"/>
            <a:ext cx="2240328" cy="753345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893604" y="2341305"/>
            <a:ext cx="2071037" cy="617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그룹명·자녀·부모님 검색.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키워드 입력 → 목록 필터.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 연동: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GET /api/admin/groups?q=.</a:t>
            </a:r>
            <a:endParaRPr lang="en-US" sz="700" dirty="0"/>
          </a:p>
        </p:txBody>
      </p:sp>
      <p:sp>
        <p:nvSpPr>
          <p:cNvPr id="39" name="Shape 36"/>
          <p:cNvSpPr/>
          <p:nvPr/>
        </p:nvSpPr>
        <p:spPr>
          <a:xfrm>
            <a:off x="8282562" y="3026934"/>
            <a:ext cx="325092" cy="60098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367208" y="3094650"/>
            <a:ext cx="204564" cy="4655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41" name="Shape 38"/>
          <p:cNvSpPr/>
          <p:nvPr/>
        </p:nvSpPr>
        <p:spPr>
          <a:xfrm>
            <a:off x="8607654" y="3026934"/>
            <a:ext cx="507873" cy="60098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692299" y="3094650"/>
            <a:ext cx="338582" cy="465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CTA 영역</a:t>
            </a:r>
            <a:endParaRPr lang="en-US" sz="700" dirty="0"/>
          </a:p>
        </p:txBody>
      </p:sp>
      <p:sp>
        <p:nvSpPr>
          <p:cNvPr id="43" name="Shape 40"/>
          <p:cNvSpPr/>
          <p:nvPr/>
        </p:nvSpPr>
        <p:spPr>
          <a:xfrm>
            <a:off x="9115527" y="3026934"/>
            <a:ext cx="693432" cy="60098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9200172" y="3094650"/>
            <a:ext cx="524141" cy="465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엑셀 다운로드</a:t>
            </a:r>
            <a:endParaRPr lang="en-US" sz="700" dirty="0"/>
          </a:p>
        </p:txBody>
      </p:sp>
      <p:sp>
        <p:nvSpPr>
          <p:cNvPr id="45" name="Shape 42"/>
          <p:cNvSpPr/>
          <p:nvPr/>
        </p:nvSpPr>
        <p:spPr>
          <a:xfrm>
            <a:off x="9808959" y="3026934"/>
            <a:ext cx="2240328" cy="600983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893604" y="3094650"/>
            <a:ext cx="2071037" cy="465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목록 엑셀 내보내기 + 정렬 옵션.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버튼 클릭 → xlsx 생성.</a:t>
            </a:r>
            <a:endParaRPr lang="en-US" sz="700" dirty="0"/>
          </a:p>
        </p:txBody>
      </p:sp>
      <p:sp>
        <p:nvSpPr>
          <p:cNvPr id="47" name="Shape 44"/>
          <p:cNvSpPr/>
          <p:nvPr/>
        </p:nvSpPr>
        <p:spPr>
          <a:xfrm>
            <a:off x="8282562" y="3627917"/>
            <a:ext cx="325092" cy="1210431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8367208" y="3695633"/>
            <a:ext cx="204564" cy="10749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  <p:sp>
        <p:nvSpPr>
          <p:cNvPr id="49" name="Shape 46"/>
          <p:cNvSpPr/>
          <p:nvPr/>
        </p:nvSpPr>
        <p:spPr>
          <a:xfrm>
            <a:off x="8607654" y="3627917"/>
            <a:ext cx="507873" cy="1210431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692299" y="3695633"/>
            <a:ext cx="338582" cy="1074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영역</a:t>
            </a:r>
            <a:endParaRPr lang="en-US" sz="700" dirty="0"/>
          </a:p>
        </p:txBody>
      </p:sp>
      <p:sp>
        <p:nvSpPr>
          <p:cNvPr id="51" name="Shape 48"/>
          <p:cNvSpPr/>
          <p:nvPr/>
        </p:nvSpPr>
        <p:spPr>
          <a:xfrm>
            <a:off x="9115527" y="3627917"/>
            <a:ext cx="693432" cy="1210431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9200172" y="3695633"/>
            <a:ext cx="524141" cy="1074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그룹·회원 목록 테이블</a:t>
            </a:r>
            <a:endParaRPr lang="en-US" sz="700" dirty="0"/>
          </a:p>
        </p:txBody>
      </p:sp>
      <p:sp>
        <p:nvSpPr>
          <p:cNvPr id="53" name="Shape 50"/>
          <p:cNvSpPr/>
          <p:nvPr/>
        </p:nvSpPr>
        <p:spPr>
          <a:xfrm>
            <a:off x="9808959" y="3627917"/>
            <a:ext cx="2240328" cy="1210431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9893604" y="3695633"/>
            <a:ext cx="2071037" cy="1074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그룹ID·그룹명·생성일·소유주·부모님 상태·구성원·마지막 연결.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부모님 위치공유 ON/OFF, 동의철회 상태 뱃지.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 연동: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GET /api/admin/groups, GET /api/admin/groups/{id}.</a:t>
            </a:r>
            <a:endParaRPr lang="en-US" sz="700" dirty="0"/>
          </a:p>
        </p:txBody>
      </p:sp>
      <p:sp>
        <p:nvSpPr>
          <p:cNvPr id="55" name="Shape 52"/>
          <p:cNvSpPr/>
          <p:nvPr/>
        </p:nvSpPr>
        <p:spPr>
          <a:xfrm>
            <a:off x="8282562" y="4838348"/>
            <a:ext cx="325092" cy="105806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8367208" y="4906064"/>
            <a:ext cx="204564" cy="9226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700" dirty="0"/>
          </a:p>
        </p:txBody>
      </p:sp>
      <p:sp>
        <p:nvSpPr>
          <p:cNvPr id="57" name="Shape 54"/>
          <p:cNvSpPr/>
          <p:nvPr/>
        </p:nvSpPr>
        <p:spPr>
          <a:xfrm>
            <a:off x="8607654" y="4838348"/>
            <a:ext cx="507873" cy="105806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8692299" y="4906064"/>
            <a:ext cx="338582" cy="922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영역</a:t>
            </a:r>
            <a:endParaRPr lang="en-US" sz="700" dirty="0"/>
          </a:p>
        </p:txBody>
      </p:sp>
      <p:sp>
        <p:nvSpPr>
          <p:cNvPr id="59" name="Shape 56"/>
          <p:cNvSpPr/>
          <p:nvPr/>
        </p:nvSpPr>
        <p:spPr>
          <a:xfrm>
            <a:off x="9115527" y="4838348"/>
            <a:ext cx="693432" cy="105806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9200172" y="4906064"/>
            <a:ext cx="524141" cy="922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부모님 상태 뱃지</a:t>
            </a:r>
            <a:endParaRPr lang="en-US" sz="700" dirty="0"/>
          </a:p>
        </p:txBody>
      </p:sp>
      <p:sp>
        <p:nvSpPr>
          <p:cNvPr id="61" name="Shape 58"/>
          <p:cNvSpPr/>
          <p:nvPr/>
        </p:nvSpPr>
        <p:spPr>
          <a:xfrm>
            <a:off x="9808959" y="4838348"/>
            <a:ext cx="2240328" cy="1058069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9893604" y="4906064"/>
            <a:ext cx="2071037" cy="922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ON/OFF/동의철회 상태 표시.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ON=green, OFF=gray, 동의철회=red 뱃지.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화면 연동: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사용자 위치 공유 토글·동의 철회 결과가 실시간 반영.</a:t>
            </a:r>
            <a:endParaRPr lang="en-US" sz="700" dirty="0"/>
          </a:p>
        </p:txBody>
      </p:sp>
      <p:sp>
        <p:nvSpPr>
          <p:cNvPr id="63" name="Shape 60"/>
          <p:cNvSpPr/>
          <p:nvPr/>
        </p:nvSpPr>
        <p:spPr>
          <a:xfrm>
            <a:off x="8282562" y="5896416"/>
            <a:ext cx="325092" cy="600983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367208" y="5964133"/>
            <a:ext cx="204564" cy="4655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700" dirty="0"/>
          </a:p>
        </p:txBody>
      </p:sp>
      <p:sp>
        <p:nvSpPr>
          <p:cNvPr id="65" name="Shape 62"/>
          <p:cNvSpPr/>
          <p:nvPr/>
        </p:nvSpPr>
        <p:spPr>
          <a:xfrm>
            <a:off x="8607654" y="5896416"/>
            <a:ext cx="507873" cy="600983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8692299" y="5964133"/>
            <a:ext cx="338582" cy="465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내비 영역</a:t>
            </a:r>
            <a:endParaRPr lang="en-US" sz="700" dirty="0"/>
          </a:p>
        </p:txBody>
      </p:sp>
      <p:sp>
        <p:nvSpPr>
          <p:cNvPr id="67" name="Shape 64"/>
          <p:cNvSpPr/>
          <p:nvPr/>
        </p:nvSpPr>
        <p:spPr>
          <a:xfrm>
            <a:off x="9115527" y="5896416"/>
            <a:ext cx="693432" cy="600983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9200172" y="5964133"/>
            <a:ext cx="524141" cy="465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페이지네이션</a:t>
            </a:r>
            <a:endParaRPr lang="en-US" sz="700" dirty="0"/>
          </a:p>
        </p:txBody>
      </p:sp>
      <p:sp>
        <p:nvSpPr>
          <p:cNvPr id="69" name="Shape 66"/>
          <p:cNvSpPr/>
          <p:nvPr/>
        </p:nvSpPr>
        <p:spPr>
          <a:xfrm>
            <a:off x="9808959" y="5896416"/>
            <a:ext cx="2240328" cy="600983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9893604" y="5964133"/>
            <a:ext cx="2071037" cy="465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목록 페이지 이동.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페이지 번호/화살표 클릭.</a:t>
            </a:r>
            <a:endParaRPr lang="en-US" sz="700" dirty="0"/>
          </a:p>
        </p:txBody>
      </p:sp>
      <p:sp>
        <p:nvSpPr>
          <p:cNvPr id="71" name="Shape 68"/>
          <p:cNvSpPr/>
          <p:nvPr/>
        </p:nvSpPr>
        <p:spPr>
          <a:xfrm>
            <a:off x="2581688" y="1651445"/>
            <a:ext cx="186220" cy="1862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2" name="Text 69"/>
          <p:cNvSpPr txBox="1"/>
          <p:nvPr/>
        </p:nvSpPr>
        <p:spPr>
          <a:xfrm>
            <a:off x="2581688" y="1651445"/>
            <a:ext cx="195531" cy="18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73" name="Shape 70"/>
          <p:cNvSpPr/>
          <p:nvPr/>
        </p:nvSpPr>
        <p:spPr>
          <a:xfrm>
            <a:off x="1489761" y="2311679"/>
            <a:ext cx="186220" cy="1862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4" name="Text 71"/>
          <p:cNvSpPr txBox="1"/>
          <p:nvPr/>
        </p:nvSpPr>
        <p:spPr>
          <a:xfrm>
            <a:off x="1489761" y="2311679"/>
            <a:ext cx="195531" cy="18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75" name="Shape 72"/>
          <p:cNvSpPr/>
          <p:nvPr/>
        </p:nvSpPr>
        <p:spPr>
          <a:xfrm>
            <a:off x="6314554" y="1651445"/>
            <a:ext cx="186220" cy="1862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6" name="Text 73"/>
          <p:cNvSpPr txBox="1"/>
          <p:nvPr/>
        </p:nvSpPr>
        <p:spPr>
          <a:xfrm>
            <a:off x="6314554" y="1651445"/>
            <a:ext cx="195531" cy="18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77" name="Shape 74"/>
          <p:cNvSpPr/>
          <p:nvPr/>
        </p:nvSpPr>
        <p:spPr>
          <a:xfrm>
            <a:off x="1168108" y="3098883"/>
            <a:ext cx="186220" cy="1862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8" name="Text 75"/>
          <p:cNvSpPr txBox="1"/>
          <p:nvPr/>
        </p:nvSpPr>
        <p:spPr>
          <a:xfrm>
            <a:off x="1168108" y="3098883"/>
            <a:ext cx="195531" cy="18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  <p:sp>
        <p:nvSpPr>
          <p:cNvPr id="79" name="Shape 76"/>
          <p:cNvSpPr/>
          <p:nvPr/>
        </p:nvSpPr>
        <p:spPr>
          <a:xfrm>
            <a:off x="5671249" y="2684120"/>
            <a:ext cx="186220" cy="1862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80" name="Text 77"/>
          <p:cNvSpPr txBox="1"/>
          <p:nvPr/>
        </p:nvSpPr>
        <p:spPr>
          <a:xfrm>
            <a:off x="5671249" y="2684120"/>
            <a:ext cx="195531" cy="18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700" dirty="0"/>
          </a:p>
        </p:txBody>
      </p:sp>
      <p:sp>
        <p:nvSpPr>
          <p:cNvPr id="81" name="Shape 78"/>
          <p:cNvSpPr/>
          <p:nvPr/>
        </p:nvSpPr>
        <p:spPr>
          <a:xfrm>
            <a:off x="3741331" y="4673289"/>
            <a:ext cx="186220" cy="1862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82" name="Text 79"/>
          <p:cNvSpPr txBox="1"/>
          <p:nvPr/>
        </p:nvSpPr>
        <p:spPr>
          <a:xfrm>
            <a:off x="3741331" y="4673289"/>
            <a:ext cx="195531" cy="18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3149" y="589143"/>
            <a:ext cx="11782654" cy="617912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0905" y="804990"/>
            <a:ext cx="636957" cy="186220"/>
          </a:xfrm>
          <a:prstGeom prst="rect">
            <a:avLst/>
          </a:prstGeom>
          <a:solidFill>
            <a:srgbClr val="E9ECEF"/>
          </a:solidFill>
          <a:ln w="7620">
            <a:solidFill>
              <a:srgbClr val="CED4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82479" y="830383"/>
            <a:ext cx="529352" cy="13543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SCR-012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1221011" y="775364"/>
            <a:ext cx="440018" cy="1100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1221011" y="910796"/>
            <a:ext cx="1539682" cy="1523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- SMS/알림톡 발송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2898447" y="788060"/>
            <a:ext cx="376441" cy="1100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Route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2898447" y="923493"/>
            <a:ext cx="1369637" cy="1269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admin.ansimmap.kr/sms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4428018" y="788060"/>
            <a:ext cx="429219" cy="1100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Status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4428018" y="923493"/>
            <a:ext cx="1056621" cy="1269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 완료 (실제 화면)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03149" y="1207056"/>
            <a:ext cx="7719670" cy="4926368"/>
          </a:xfrm>
          <a:prstGeom prst="rect">
            <a:avLst/>
          </a:prstGeom>
          <a:solidFill>
            <a:srgbClr val="FFFFFF"/>
          </a:solidFill>
          <a:ln w="7620">
            <a:solidFill>
              <a:srgbClr val="DEE2E6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455" y="1215520"/>
            <a:ext cx="6433058" cy="4143265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8125968" y="1207056"/>
            <a:ext cx="4062984" cy="512951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278330" y="1342488"/>
            <a:ext cx="3773462" cy="1354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12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Description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8282562" y="1566799"/>
            <a:ext cx="325092" cy="253936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67208" y="1634515"/>
            <a:ext cx="204564" cy="1185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No.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8607654" y="1566799"/>
            <a:ext cx="507873" cy="253936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692299" y="1634515"/>
            <a:ext cx="338582" cy="118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영역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9115527" y="1566799"/>
            <a:ext cx="664996" cy="253936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200172" y="1634515"/>
            <a:ext cx="495705" cy="118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요소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9780523" y="1566799"/>
            <a:ext cx="2268764" cy="253936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865169" y="1634515"/>
            <a:ext cx="2099473" cy="118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8282562" y="1820736"/>
            <a:ext cx="325092" cy="753345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367208" y="1888452"/>
            <a:ext cx="204564" cy="6179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8607654" y="1820736"/>
            <a:ext cx="507873" cy="753345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92299" y="1888452"/>
            <a:ext cx="338582" cy="617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영역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9115527" y="1820736"/>
            <a:ext cx="664996" cy="753345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200172" y="1888452"/>
            <a:ext cx="495705" cy="617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발송 채널 - SMS</a:t>
            </a:r>
            <a:endParaRPr lang="en-US" sz="700" dirty="0"/>
          </a:p>
        </p:txBody>
      </p:sp>
      <p:sp>
        <p:nvSpPr>
          <p:cNvPr id="29" name="Shape 26"/>
          <p:cNvSpPr/>
          <p:nvPr/>
        </p:nvSpPr>
        <p:spPr>
          <a:xfrm>
            <a:off x="9780523" y="1820736"/>
            <a:ext cx="2268764" cy="753345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865169" y="1888452"/>
            <a:ext cx="2099473" cy="617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 SMS/LMS 문자 채널 선택.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라디오 선택. 기본 SMS.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선택 채널 active.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8282562" y="2574080"/>
            <a:ext cx="325092" cy="905707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367208" y="2641797"/>
            <a:ext cx="204564" cy="7702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8607654" y="2574080"/>
            <a:ext cx="507873" cy="905707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692299" y="2641797"/>
            <a:ext cx="338582" cy="770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영역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9115527" y="2574080"/>
            <a:ext cx="664996" cy="905707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9200172" y="2641797"/>
            <a:ext cx="495705" cy="770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발송 채널 - 알림톡</a:t>
            </a:r>
            <a:endParaRPr lang="en-US" sz="700" dirty="0"/>
          </a:p>
        </p:txBody>
      </p:sp>
      <p:sp>
        <p:nvSpPr>
          <p:cNvPr id="37" name="Shape 34"/>
          <p:cNvSpPr/>
          <p:nvPr/>
        </p:nvSpPr>
        <p:spPr>
          <a:xfrm>
            <a:off x="9780523" y="2574080"/>
            <a:ext cx="2268764" cy="905707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865169" y="2641797"/>
            <a:ext cx="2099473" cy="770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카카오 알림톡(비즈 채널 템플릿).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라디오 선택.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선택 시 템플릿 입력 전환.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 연동: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POST /api/admin/alimtalk.</a:t>
            </a:r>
            <a:endParaRPr lang="en-US" sz="700" dirty="0"/>
          </a:p>
        </p:txBody>
      </p:sp>
      <p:sp>
        <p:nvSpPr>
          <p:cNvPr id="39" name="Shape 36"/>
          <p:cNvSpPr/>
          <p:nvPr/>
        </p:nvSpPr>
        <p:spPr>
          <a:xfrm>
            <a:off x="8282562" y="3479787"/>
            <a:ext cx="325092" cy="753345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367208" y="3547504"/>
            <a:ext cx="204564" cy="6179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41" name="Shape 38"/>
          <p:cNvSpPr/>
          <p:nvPr/>
        </p:nvSpPr>
        <p:spPr>
          <a:xfrm>
            <a:off x="8607654" y="3479787"/>
            <a:ext cx="507873" cy="753345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692299" y="3547504"/>
            <a:ext cx="338582" cy="617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영역</a:t>
            </a:r>
            <a:endParaRPr lang="en-US" sz="700" dirty="0"/>
          </a:p>
        </p:txBody>
      </p:sp>
      <p:sp>
        <p:nvSpPr>
          <p:cNvPr id="43" name="Shape 40"/>
          <p:cNvSpPr/>
          <p:nvPr/>
        </p:nvSpPr>
        <p:spPr>
          <a:xfrm>
            <a:off x="9115527" y="3479787"/>
            <a:ext cx="664996" cy="753345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9200172" y="3547504"/>
            <a:ext cx="495705" cy="617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수신 대상 번호</a:t>
            </a:r>
            <a:endParaRPr lang="en-US" sz="700" dirty="0"/>
          </a:p>
        </p:txBody>
      </p:sp>
      <p:sp>
        <p:nvSpPr>
          <p:cNvPr id="45" name="Shape 42"/>
          <p:cNvSpPr/>
          <p:nvPr/>
        </p:nvSpPr>
        <p:spPr>
          <a:xfrm>
            <a:off x="9780523" y="3479787"/>
            <a:ext cx="2268764" cy="753345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865169" y="3547504"/>
            <a:ext cx="2099473" cy="617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쉼표 구분 다중 번호 입력.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번호 입력 → 인원 수 자동 집계.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대상 인원 카운트 뱃지.</a:t>
            </a:r>
            <a:endParaRPr lang="en-US" sz="700" dirty="0"/>
          </a:p>
        </p:txBody>
      </p:sp>
      <p:sp>
        <p:nvSpPr>
          <p:cNvPr id="47" name="Shape 44"/>
          <p:cNvSpPr/>
          <p:nvPr/>
        </p:nvSpPr>
        <p:spPr>
          <a:xfrm>
            <a:off x="8282562" y="4233132"/>
            <a:ext cx="325092" cy="753345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8367208" y="4300849"/>
            <a:ext cx="204564" cy="6179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  <p:sp>
        <p:nvSpPr>
          <p:cNvPr id="49" name="Shape 46"/>
          <p:cNvSpPr/>
          <p:nvPr/>
        </p:nvSpPr>
        <p:spPr>
          <a:xfrm>
            <a:off x="8607654" y="4233132"/>
            <a:ext cx="507873" cy="753345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692299" y="4300849"/>
            <a:ext cx="338582" cy="617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영역</a:t>
            </a:r>
            <a:endParaRPr lang="en-US" sz="700" dirty="0"/>
          </a:p>
        </p:txBody>
      </p:sp>
      <p:sp>
        <p:nvSpPr>
          <p:cNvPr id="51" name="Shape 48"/>
          <p:cNvSpPr/>
          <p:nvPr/>
        </p:nvSpPr>
        <p:spPr>
          <a:xfrm>
            <a:off x="9115527" y="4233132"/>
            <a:ext cx="664996" cy="753345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9200172" y="4300849"/>
            <a:ext cx="495705" cy="617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메시지 작성</a:t>
            </a:r>
            <a:endParaRPr lang="en-US" sz="700" dirty="0"/>
          </a:p>
        </p:txBody>
      </p:sp>
      <p:sp>
        <p:nvSpPr>
          <p:cNvPr id="53" name="Shape 50"/>
          <p:cNvSpPr/>
          <p:nvPr/>
        </p:nvSpPr>
        <p:spPr>
          <a:xfrm>
            <a:off x="9780523" y="4233132"/>
            <a:ext cx="2268764" cy="753345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9865169" y="4300849"/>
            <a:ext cx="2099473" cy="617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발송 내용 + 글자수/단문 구분.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텍스트 입력.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글자수·SMS/LMS 자동 판별.</a:t>
            </a:r>
            <a:endParaRPr lang="en-US" sz="700" dirty="0"/>
          </a:p>
        </p:txBody>
      </p:sp>
      <p:sp>
        <p:nvSpPr>
          <p:cNvPr id="55" name="Shape 52"/>
          <p:cNvSpPr/>
          <p:nvPr/>
        </p:nvSpPr>
        <p:spPr>
          <a:xfrm>
            <a:off x="8282562" y="4986477"/>
            <a:ext cx="325092" cy="1210431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8367208" y="5054194"/>
            <a:ext cx="204564" cy="10749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700" dirty="0"/>
          </a:p>
        </p:txBody>
      </p:sp>
      <p:sp>
        <p:nvSpPr>
          <p:cNvPr id="57" name="Shape 54"/>
          <p:cNvSpPr/>
          <p:nvPr/>
        </p:nvSpPr>
        <p:spPr>
          <a:xfrm>
            <a:off x="8607654" y="4986477"/>
            <a:ext cx="507873" cy="1210431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8692299" y="5054194"/>
            <a:ext cx="338582" cy="1074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CTA 영역</a:t>
            </a:r>
            <a:endParaRPr lang="en-US" sz="700" dirty="0"/>
          </a:p>
        </p:txBody>
      </p:sp>
      <p:sp>
        <p:nvSpPr>
          <p:cNvPr id="59" name="Shape 56"/>
          <p:cNvSpPr/>
          <p:nvPr/>
        </p:nvSpPr>
        <p:spPr>
          <a:xfrm>
            <a:off x="9115527" y="4986477"/>
            <a:ext cx="664996" cy="1210431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9200172" y="5054194"/>
            <a:ext cx="495705" cy="1074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즉시 메시지 발송</a:t>
            </a:r>
            <a:endParaRPr lang="en-US" sz="700" dirty="0"/>
          </a:p>
        </p:txBody>
      </p:sp>
      <p:sp>
        <p:nvSpPr>
          <p:cNvPr id="61" name="Shape 58"/>
          <p:cNvSpPr/>
          <p:nvPr/>
        </p:nvSpPr>
        <p:spPr>
          <a:xfrm>
            <a:off x="9780523" y="4986477"/>
            <a:ext cx="2268764" cy="1210431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9865169" y="5054194"/>
            <a:ext cx="2099473" cy="1074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대상에게 즉시 발송.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예외 Case: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대상/내용 미입력 시 비활성.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화면 연동: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발송 이력은 발송 내역에 기록되어 운영 추적.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 연동: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POST /api/admin/sms, GET /api/admin/alimtalk/history.</a:t>
            </a:r>
            <a:endParaRPr lang="en-US" sz="700" dirty="0"/>
          </a:p>
        </p:txBody>
      </p:sp>
      <p:sp>
        <p:nvSpPr>
          <p:cNvPr id="63" name="Shape 60"/>
          <p:cNvSpPr/>
          <p:nvPr/>
        </p:nvSpPr>
        <p:spPr>
          <a:xfrm>
            <a:off x="2006098" y="2612171"/>
            <a:ext cx="186220" cy="1862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64" name="Text 61"/>
          <p:cNvSpPr txBox="1"/>
          <p:nvPr/>
        </p:nvSpPr>
        <p:spPr>
          <a:xfrm>
            <a:off x="2006098" y="2612171"/>
            <a:ext cx="195531" cy="18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65" name="Shape 62"/>
          <p:cNvSpPr/>
          <p:nvPr/>
        </p:nvSpPr>
        <p:spPr>
          <a:xfrm>
            <a:off x="4833258" y="2612171"/>
            <a:ext cx="186220" cy="1862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66" name="Text 63"/>
          <p:cNvSpPr txBox="1"/>
          <p:nvPr/>
        </p:nvSpPr>
        <p:spPr>
          <a:xfrm>
            <a:off x="4833258" y="2612171"/>
            <a:ext cx="195531" cy="18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67" name="Shape 64"/>
          <p:cNvSpPr/>
          <p:nvPr/>
        </p:nvSpPr>
        <p:spPr>
          <a:xfrm>
            <a:off x="1489761" y="4355868"/>
            <a:ext cx="186220" cy="1862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68" name="Text 65"/>
          <p:cNvSpPr txBox="1"/>
          <p:nvPr/>
        </p:nvSpPr>
        <p:spPr>
          <a:xfrm>
            <a:off x="1489761" y="4355868"/>
            <a:ext cx="195531" cy="18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69" name="Shape 66"/>
          <p:cNvSpPr/>
          <p:nvPr/>
        </p:nvSpPr>
        <p:spPr>
          <a:xfrm>
            <a:off x="4384637" y="3687169"/>
            <a:ext cx="186220" cy="1862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0" name="Text 67"/>
          <p:cNvSpPr txBox="1"/>
          <p:nvPr/>
        </p:nvSpPr>
        <p:spPr>
          <a:xfrm>
            <a:off x="4384637" y="3687169"/>
            <a:ext cx="195531" cy="18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  <p:sp>
        <p:nvSpPr>
          <p:cNvPr id="71" name="Shape 68"/>
          <p:cNvSpPr/>
          <p:nvPr/>
        </p:nvSpPr>
        <p:spPr>
          <a:xfrm>
            <a:off x="6314554" y="4931458"/>
            <a:ext cx="186220" cy="1862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2" name="Text 69"/>
          <p:cNvSpPr txBox="1"/>
          <p:nvPr/>
        </p:nvSpPr>
        <p:spPr>
          <a:xfrm>
            <a:off x="6314554" y="4931458"/>
            <a:ext cx="195531" cy="18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3149" y="441014"/>
            <a:ext cx="11782654" cy="617912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0905" y="656860"/>
            <a:ext cx="639867" cy="186220"/>
          </a:xfrm>
          <a:prstGeom prst="rect">
            <a:avLst/>
          </a:prstGeom>
          <a:solidFill>
            <a:srgbClr val="E9ECEF"/>
          </a:solidFill>
          <a:ln w="7620">
            <a:solidFill>
              <a:srgbClr val="CED4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82479" y="682254"/>
            <a:ext cx="532698" cy="13543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950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SCR-013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1223921" y="627234"/>
            <a:ext cx="440018" cy="1100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Screen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1223921" y="762667"/>
            <a:ext cx="1304539" cy="1523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- 통계 대시보드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2696885" y="639931"/>
            <a:ext cx="376441" cy="1100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Route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2696885" y="775364"/>
            <a:ext cx="1416635" cy="1269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admin.ansimmap.kr/stats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4267324" y="639931"/>
            <a:ext cx="429219" cy="1100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DB5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Status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4267324" y="775364"/>
            <a:ext cx="1056621" cy="1269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 완료 (실제 화면)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03149" y="1058926"/>
            <a:ext cx="7719670" cy="5222627"/>
          </a:xfrm>
          <a:prstGeom prst="rect">
            <a:avLst/>
          </a:prstGeom>
          <a:solidFill>
            <a:srgbClr val="FFFFFF"/>
          </a:solidFill>
          <a:ln w="7620">
            <a:solidFill>
              <a:srgbClr val="DEE2E6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455" y="1067391"/>
            <a:ext cx="6433058" cy="4143265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8125968" y="1058926"/>
            <a:ext cx="4062984" cy="542577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278330" y="1194359"/>
            <a:ext cx="3773462" cy="1354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1252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Description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8282562" y="1418669"/>
            <a:ext cx="325092" cy="253936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67208" y="1486386"/>
            <a:ext cx="204564" cy="1185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No.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8607654" y="1418669"/>
            <a:ext cx="507873" cy="253936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692299" y="1486386"/>
            <a:ext cx="338582" cy="118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영역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9115527" y="1418669"/>
            <a:ext cx="731390" cy="253936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200172" y="1486386"/>
            <a:ext cx="562099" cy="118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요소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9846917" y="1418669"/>
            <a:ext cx="2202370" cy="253936"/>
          </a:xfrm>
          <a:prstGeom prst="rect">
            <a:avLst/>
          </a:prstGeom>
          <a:solidFill>
            <a:srgbClr val="343A40"/>
          </a:solidFill>
          <a:ln w="7620">
            <a:solidFill>
              <a:srgbClr val="343A4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931562" y="1486386"/>
            <a:ext cx="2033079" cy="118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8282562" y="1672606"/>
            <a:ext cx="325092" cy="753345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367208" y="1740322"/>
            <a:ext cx="204564" cy="6179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8607654" y="1672606"/>
            <a:ext cx="507873" cy="753345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92299" y="1740322"/>
            <a:ext cx="338582" cy="617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영역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9115527" y="1672606"/>
            <a:ext cx="731390" cy="753345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200172" y="1740322"/>
            <a:ext cx="562099" cy="617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 기간</a:t>
            </a:r>
            <a:endParaRPr lang="en-US" sz="700" dirty="0"/>
          </a:p>
        </p:txBody>
      </p:sp>
      <p:sp>
        <p:nvSpPr>
          <p:cNvPr id="29" name="Shape 26"/>
          <p:cNvSpPr/>
          <p:nvPr/>
        </p:nvSpPr>
        <p:spPr>
          <a:xfrm>
            <a:off x="9846917" y="1672606"/>
            <a:ext cx="2202370" cy="753345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931562" y="1740322"/>
            <a:ext cx="2033079" cy="617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통계 조회 기간 선택.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기간 선택 → 지표·차트 갱신.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 연동: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GET /api/admin/stats?from=&amp;to=.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8282562" y="2425951"/>
            <a:ext cx="325092" cy="600983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367208" y="2493667"/>
            <a:ext cx="204564" cy="4655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8607654" y="2425951"/>
            <a:ext cx="507873" cy="600983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692299" y="2493667"/>
            <a:ext cx="338582" cy="465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CTA 영역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9115527" y="2425951"/>
            <a:ext cx="731390" cy="600983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9200172" y="2493667"/>
            <a:ext cx="562099" cy="465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CSV 다운로드</a:t>
            </a:r>
            <a:endParaRPr lang="en-US" sz="700" dirty="0"/>
          </a:p>
        </p:txBody>
      </p:sp>
      <p:sp>
        <p:nvSpPr>
          <p:cNvPr id="37" name="Shape 34"/>
          <p:cNvSpPr/>
          <p:nvPr/>
        </p:nvSpPr>
        <p:spPr>
          <a:xfrm>
            <a:off x="9846917" y="2425951"/>
            <a:ext cx="2202370" cy="600983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931562" y="2493667"/>
            <a:ext cx="2033079" cy="465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통계 데이터 내보내기.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버튼 클릭 → CSV 생성.</a:t>
            </a:r>
            <a:endParaRPr lang="en-US" sz="700" dirty="0"/>
          </a:p>
        </p:txBody>
      </p:sp>
      <p:sp>
        <p:nvSpPr>
          <p:cNvPr id="39" name="Shape 36"/>
          <p:cNvSpPr/>
          <p:nvPr/>
        </p:nvSpPr>
        <p:spPr>
          <a:xfrm>
            <a:off x="8282562" y="3026934"/>
            <a:ext cx="325092" cy="753345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367208" y="3094650"/>
            <a:ext cx="204564" cy="6179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41" name="Shape 38"/>
          <p:cNvSpPr/>
          <p:nvPr/>
        </p:nvSpPr>
        <p:spPr>
          <a:xfrm>
            <a:off x="8607654" y="3026934"/>
            <a:ext cx="507873" cy="753345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692299" y="3094650"/>
            <a:ext cx="338582" cy="617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영역</a:t>
            </a:r>
            <a:endParaRPr lang="en-US" sz="700" dirty="0"/>
          </a:p>
        </p:txBody>
      </p:sp>
      <p:sp>
        <p:nvSpPr>
          <p:cNvPr id="43" name="Shape 40"/>
          <p:cNvSpPr/>
          <p:nvPr/>
        </p:nvSpPr>
        <p:spPr>
          <a:xfrm>
            <a:off x="9115527" y="3026934"/>
            <a:ext cx="731390" cy="753345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9200172" y="3094650"/>
            <a:ext cx="562099" cy="617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DAU 지표</a:t>
            </a:r>
            <a:endParaRPr lang="en-US" sz="700" dirty="0"/>
          </a:p>
        </p:txBody>
      </p:sp>
      <p:sp>
        <p:nvSpPr>
          <p:cNvPr id="45" name="Shape 42"/>
          <p:cNvSpPr/>
          <p:nvPr/>
        </p:nvSpPr>
        <p:spPr>
          <a:xfrm>
            <a:off x="9846917" y="3026934"/>
            <a:ext cx="2202370" cy="753345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931562" y="3094650"/>
            <a:ext cx="2033079" cy="617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일일 활성 사용자 수.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기간 기준 DAU 수치.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화면 연동: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사용자 로그인·활동 기반 집계.</a:t>
            </a:r>
            <a:endParaRPr lang="en-US" sz="700" dirty="0"/>
          </a:p>
        </p:txBody>
      </p:sp>
      <p:sp>
        <p:nvSpPr>
          <p:cNvPr id="47" name="Shape 44"/>
          <p:cNvSpPr/>
          <p:nvPr/>
        </p:nvSpPr>
        <p:spPr>
          <a:xfrm>
            <a:off x="8282562" y="3780279"/>
            <a:ext cx="325092" cy="905707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8367208" y="3847995"/>
            <a:ext cx="204564" cy="7702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  <p:sp>
        <p:nvSpPr>
          <p:cNvPr id="49" name="Shape 46"/>
          <p:cNvSpPr/>
          <p:nvPr/>
        </p:nvSpPr>
        <p:spPr>
          <a:xfrm>
            <a:off x="8607654" y="3780279"/>
            <a:ext cx="507873" cy="905707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692299" y="3847995"/>
            <a:ext cx="338582" cy="770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영역</a:t>
            </a:r>
            <a:endParaRPr lang="en-US" sz="700" dirty="0"/>
          </a:p>
        </p:txBody>
      </p:sp>
      <p:sp>
        <p:nvSpPr>
          <p:cNvPr id="51" name="Shape 48"/>
          <p:cNvSpPr/>
          <p:nvPr/>
        </p:nvSpPr>
        <p:spPr>
          <a:xfrm>
            <a:off x="9115527" y="3780279"/>
            <a:ext cx="731390" cy="905707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9200172" y="3847995"/>
            <a:ext cx="562099" cy="770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누적 SOS 호출 수</a:t>
            </a:r>
            <a:endParaRPr lang="en-US" sz="700" dirty="0"/>
          </a:p>
        </p:txBody>
      </p:sp>
      <p:sp>
        <p:nvSpPr>
          <p:cNvPr id="53" name="Shape 50"/>
          <p:cNvSpPr/>
          <p:nvPr/>
        </p:nvSpPr>
        <p:spPr>
          <a:xfrm>
            <a:off x="9846917" y="3780279"/>
            <a:ext cx="2202370" cy="905707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9931562" y="3847995"/>
            <a:ext cx="2033079" cy="770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SOS 발생 누적 건수.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누적 SOS 건수.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화면 연동: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부모님 SOS 발송(SCR-003) 이벤트 집계.</a:t>
            </a:r>
            <a:endParaRPr lang="en-US" sz="700" dirty="0"/>
          </a:p>
        </p:txBody>
      </p:sp>
      <p:sp>
        <p:nvSpPr>
          <p:cNvPr id="55" name="Shape 52"/>
          <p:cNvSpPr/>
          <p:nvPr/>
        </p:nvSpPr>
        <p:spPr>
          <a:xfrm>
            <a:off x="8282562" y="4685986"/>
            <a:ext cx="325092" cy="905707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8367208" y="4753702"/>
            <a:ext cx="204564" cy="7702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700" dirty="0"/>
          </a:p>
        </p:txBody>
      </p:sp>
      <p:sp>
        <p:nvSpPr>
          <p:cNvPr id="57" name="Shape 54"/>
          <p:cNvSpPr/>
          <p:nvPr/>
        </p:nvSpPr>
        <p:spPr>
          <a:xfrm>
            <a:off x="8607654" y="4685986"/>
            <a:ext cx="507873" cy="905707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8692299" y="4753702"/>
            <a:ext cx="338582" cy="770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영역</a:t>
            </a:r>
            <a:endParaRPr lang="en-US" sz="700" dirty="0"/>
          </a:p>
        </p:txBody>
      </p:sp>
      <p:sp>
        <p:nvSpPr>
          <p:cNvPr id="59" name="Shape 56"/>
          <p:cNvSpPr/>
          <p:nvPr/>
        </p:nvSpPr>
        <p:spPr>
          <a:xfrm>
            <a:off x="9115527" y="4685986"/>
            <a:ext cx="731390" cy="905707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9200172" y="4753702"/>
            <a:ext cx="562099" cy="770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 가족 그룹 수</a:t>
            </a:r>
            <a:endParaRPr lang="en-US" sz="700" dirty="0"/>
          </a:p>
        </p:txBody>
      </p:sp>
      <p:sp>
        <p:nvSpPr>
          <p:cNvPr id="61" name="Shape 58"/>
          <p:cNvSpPr/>
          <p:nvPr/>
        </p:nvSpPr>
        <p:spPr>
          <a:xfrm>
            <a:off x="9846917" y="4685986"/>
            <a:ext cx="2202370" cy="905707"/>
          </a:xfrm>
          <a:prstGeom prst="rect">
            <a:avLst/>
          </a:prstGeom>
          <a:ln w="7620">
            <a:solidFill>
              <a:srgbClr val="DEE2E6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9931562" y="4753702"/>
            <a:ext cx="2033079" cy="770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누적 그룹 생성 수.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누적 그룹 수.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화면 연동: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그룹 생성(SCR-005) 이벤트 집계.</a:t>
            </a:r>
            <a:endParaRPr lang="en-US" sz="700" dirty="0"/>
          </a:p>
        </p:txBody>
      </p:sp>
      <p:sp>
        <p:nvSpPr>
          <p:cNvPr id="63" name="Shape 60"/>
          <p:cNvSpPr/>
          <p:nvPr/>
        </p:nvSpPr>
        <p:spPr>
          <a:xfrm>
            <a:off x="8282562" y="5591693"/>
            <a:ext cx="325092" cy="753345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367208" y="5659409"/>
            <a:ext cx="204564" cy="6179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677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700" dirty="0"/>
          </a:p>
        </p:txBody>
      </p:sp>
      <p:sp>
        <p:nvSpPr>
          <p:cNvPr id="65" name="Shape 62"/>
          <p:cNvSpPr/>
          <p:nvPr/>
        </p:nvSpPr>
        <p:spPr>
          <a:xfrm>
            <a:off x="8607654" y="5591693"/>
            <a:ext cx="507873" cy="753345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8692299" y="5659409"/>
            <a:ext cx="338582" cy="617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C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영역</a:t>
            </a:r>
            <a:endParaRPr lang="en-US" sz="700" dirty="0"/>
          </a:p>
        </p:txBody>
      </p:sp>
      <p:sp>
        <p:nvSpPr>
          <p:cNvPr id="67" name="Shape 64"/>
          <p:cNvSpPr/>
          <p:nvPr/>
        </p:nvSpPr>
        <p:spPr>
          <a:xfrm>
            <a:off x="9115527" y="5591693"/>
            <a:ext cx="731390" cy="753345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9200172" y="5659409"/>
            <a:ext cx="562099" cy="617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DAU 추이 차트</a:t>
            </a:r>
            <a:endParaRPr lang="en-US" sz="700" dirty="0"/>
          </a:p>
        </p:txBody>
      </p:sp>
      <p:sp>
        <p:nvSpPr>
          <p:cNvPr id="69" name="Shape 66"/>
          <p:cNvSpPr/>
          <p:nvPr/>
        </p:nvSpPr>
        <p:spPr>
          <a:xfrm>
            <a:off x="9846917" y="5591693"/>
            <a:ext cx="2202370" cy="753345"/>
          </a:xfrm>
          <a:prstGeom prst="rect">
            <a:avLst/>
          </a:prstGeom>
          <a:solidFill>
            <a:srgbClr val="F8F9FA"/>
          </a:solidFill>
          <a:ln w="7620">
            <a:solidFill>
              <a:srgbClr val="DEE2E6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9931562" y="5659409"/>
            <a:ext cx="2033079" cy="617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일별 활성 사용자 라인 차트.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출력조건: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기간 내 일자별 추이 렌더.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 연동:</a:t>
            </a:r>
            <a:r>
              <a:rPr lang="en-US" sz="700" dirty="0">
                <a:solidFill>
                  <a:srgbClr val="343A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GET /api/admin/stats (시계열).</a:t>
            </a:r>
            <a:endParaRPr lang="en-US" sz="700" dirty="0"/>
          </a:p>
        </p:txBody>
      </p:sp>
      <p:sp>
        <p:nvSpPr>
          <p:cNvPr id="71" name="Shape 68"/>
          <p:cNvSpPr/>
          <p:nvPr/>
        </p:nvSpPr>
        <p:spPr>
          <a:xfrm>
            <a:off x="4833258" y="1803806"/>
            <a:ext cx="186220" cy="1862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2" name="Text 69"/>
          <p:cNvSpPr txBox="1"/>
          <p:nvPr/>
        </p:nvSpPr>
        <p:spPr>
          <a:xfrm>
            <a:off x="4833258" y="1803806"/>
            <a:ext cx="195531" cy="18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00" dirty="0"/>
          </a:p>
        </p:txBody>
      </p:sp>
      <p:sp>
        <p:nvSpPr>
          <p:cNvPr id="73" name="Shape 70"/>
          <p:cNvSpPr/>
          <p:nvPr/>
        </p:nvSpPr>
        <p:spPr>
          <a:xfrm>
            <a:off x="6314554" y="1803806"/>
            <a:ext cx="186220" cy="1862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4" name="Text 71"/>
          <p:cNvSpPr txBox="1"/>
          <p:nvPr/>
        </p:nvSpPr>
        <p:spPr>
          <a:xfrm>
            <a:off x="6314554" y="1803806"/>
            <a:ext cx="195531" cy="18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00" dirty="0"/>
          </a:p>
        </p:txBody>
      </p:sp>
      <p:sp>
        <p:nvSpPr>
          <p:cNvPr id="75" name="Shape 72"/>
          <p:cNvSpPr/>
          <p:nvPr/>
        </p:nvSpPr>
        <p:spPr>
          <a:xfrm>
            <a:off x="2006098" y="2379396"/>
            <a:ext cx="186220" cy="1862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6" name="Text 73"/>
          <p:cNvSpPr txBox="1"/>
          <p:nvPr/>
        </p:nvSpPr>
        <p:spPr>
          <a:xfrm>
            <a:off x="2006098" y="2379396"/>
            <a:ext cx="195531" cy="18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00" dirty="0"/>
          </a:p>
        </p:txBody>
      </p:sp>
      <p:sp>
        <p:nvSpPr>
          <p:cNvPr id="77" name="Shape 74"/>
          <p:cNvSpPr/>
          <p:nvPr/>
        </p:nvSpPr>
        <p:spPr>
          <a:xfrm>
            <a:off x="4062984" y="2379396"/>
            <a:ext cx="186220" cy="1862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78" name="Text 75"/>
          <p:cNvSpPr txBox="1"/>
          <p:nvPr/>
        </p:nvSpPr>
        <p:spPr>
          <a:xfrm>
            <a:off x="4062984" y="2379396"/>
            <a:ext cx="195531" cy="18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00" dirty="0"/>
          </a:p>
        </p:txBody>
      </p:sp>
      <p:sp>
        <p:nvSpPr>
          <p:cNvPr id="79" name="Shape 76"/>
          <p:cNvSpPr/>
          <p:nvPr/>
        </p:nvSpPr>
        <p:spPr>
          <a:xfrm>
            <a:off x="6119870" y="2379396"/>
            <a:ext cx="186220" cy="1862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80" name="Text 77"/>
          <p:cNvSpPr txBox="1"/>
          <p:nvPr/>
        </p:nvSpPr>
        <p:spPr>
          <a:xfrm>
            <a:off x="6119870" y="2379396"/>
            <a:ext cx="195531" cy="18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700" dirty="0"/>
          </a:p>
        </p:txBody>
      </p:sp>
      <p:sp>
        <p:nvSpPr>
          <p:cNvPr id="81" name="Shape 78"/>
          <p:cNvSpPr/>
          <p:nvPr/>
        </p:nvSpPr>
        <p:spPr>
          <a:xfrm>
            <a:off x="1489761" y="3539039"/>
            <a:ext cx="186220" cy="186220"/>
          </a:xfrm>
          <a:prstGeom prst="ellipse">
            <a:avLst/>
          </a:prstGeom>
          <a:solidFill>
            <a:srgbClr val="E67700"/>
          </a:solidFill>
          <a:ln/>
        </p:spPr>
      </p:sp>
      <p:sp>
        <p:nvSpPr>
          <p:cNvPr id="82" name="Text 79"/>
          <p:cNvSpPr txBox="1"/>
          <p:nvPr/>
        </p:nvSpPr>
        <p:spPr>
          <a:xfrm>
            <a:off x="1489761" y="3539039"/>
            <a:ext cx="195531" cy="18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3604</Words>
  <Application>Microsoft Office PowerPoint</Application>
  <PresentationFormat>사용자 지정</PresentationFormat>
  <Paragraphs>997</Paragraphs>
  <Slides>19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3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유애경</cp:lastModifiedBy>
  <cp:revision>2</cp:revision>
  <dcterms:created xsi:type="dcterms:W3CDTF">2026-06-18T03:28:05Z</dcterms:created>
  <dcterms:modified xsi:type="dcterms:W3CDTF">2026-06-18T03:38:38Z</dcterms:modified>
</cp:coreProperties>
</file>