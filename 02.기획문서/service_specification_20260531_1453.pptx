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4572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6576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005840"/>
            <a:ext cx="39319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DOC-04  ·  v1.1  ·  서비스기획서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부모님 위치 확인 서비스
안심맵 (AnsimMap)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FDBFF"/>
                </a:solidFill>
                <a:latin typeface="맑은 고딕"/>
              </a:rPr>
              <a:t>시니어 케어 통합 위치추적 플랫폼  서비스기획서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840480"/>
            <a:ext cx="21945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실시간 위치추적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3840480"/>
            <a:ext cx="21945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SOS 긴급알림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3840480"/>
            <a:ext cx="21945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시니어 초간편 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19" y="3840480"/>
            <a:ext cx="21945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B2C+B2G 이중수익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  <a:latin typeface="맑은 고딕"/>
              </a:rPr>
              <a:t>작성일  2026-05-31   |   버전  v1.1   |   작성자  PM   |   MVP  2026-05-18 ~ 2026-06-21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0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서비스 개요 · 핵심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640312" cy="7315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987552"/>
            <a:ext cx="11411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맑은 고딕"/>
              </a:rPr>
              <a:t>별도 앱 설치 없이 스마트폰 브라우저만으로 부모님 위치를 실시간 공유하고,
가족이 언제든 확인하며 즉시 소통할 수 있는 시니어 케어 통합 플랫폼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74320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819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783080"/>
            <a:ext cx="274320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19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75688"/>
            <a:ext cx="2743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210312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서비스명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075688"/>
            <a:ext cx="2743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2384" y="210312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안심맵 (AnsimMap)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23160"/>
            <a:ext cx="2743200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450591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목표 시장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423160"/>
            <a:ext cx="2743200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2450591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한국 시니어 케어 · 가족 안전 위치추적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70632"/>
            <a:ext cx="2743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79806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타겟 사용자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770632"/>
            <a:ext cx="2743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2384" y="279806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3040 자녀 / 6070 시니어 부모님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18104"/>
            <a:ext cx="2743200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3145536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핵심 가치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3118104"/>
            <a:ext cx="2743200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3145536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안심 + 간편성 + 연결성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65576"/>
            <a:ext cx="2743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49300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수익 모델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65576"/>
            <a:ext cx="27432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2384" y="349300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B2C Freemium 구독 + B2G 이중 구조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13048"/>
            <a:ext cx="2743200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384048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MVP 기간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3813048"/>
            <a:ext cx="2743200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72384" y="384048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2026-05-18 ~ 2026-06-21 (5주)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783080"/>
            <a:ext cx="2834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1783080"/>
            <a:ext cx="2834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187451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맑은 고딕"/>
              </a:rPr>
              <a:t>국내 실버산업 규모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72조 → 168조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606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2020 → 2030 전망 (+133%)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1783080"/>
            <a:ext cx="2834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1783080"/>
            <a:ext cx="2834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187451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글로벌 시장 CAGR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2103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10.9%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606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글로벌 가족위치추적 앱 시장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108960"/>
            <a:ext cx="2834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3108960"/>
            <a:ext cx="2834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4768" y="3200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맑은 고딕"/>
              </a:rPr>
              <a:t>배회감지기 미개척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3429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93.9%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44768" y="3931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보급률 6.1% → 거대 잠재 시장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3108960"/>
            <a:ext cx="2834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3108960"/>
            <a:ext cx="28346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2288" y="3200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맑은 고딕"/>
              </a:rPr>
              <a:t>국내 치매 환자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3429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910,898명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62288" y="39319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2020년 대비 72% 급증 (2024)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시장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TAM / SAM / SOM · 핵심 통계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749039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맑은 고딕"/>
              </a:rPr>
              <a:t>국내 실버산업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344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72조 → 168조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3736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2020 → 2030 전망 (+133%)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914400"/>
            <a:ext cx="3749039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914400"/>
            <a:ext cx="3749039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005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글로벌 가족위치추적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2344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38억 → 97억 달러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73736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2025 → 2034  CAGR 10.9%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914400"/>
            <a:ext cx="377647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914400"/>
            <a:ext cx="377647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00584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맑은 고딕"/>
              </a:rPr>
              <a:t>아시아태평양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234440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13.4%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73736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전 세계 최고 성장률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76272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212848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54423" y="2176272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9287" y="2212848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범위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4528" y="2176272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392" y="2212848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규모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68879"/>
            <a:ext cx="3880104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2496311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TAM (전체 시장)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4423" y="2468879"/>
            <a:ext cx="3880104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9287" y="2496311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한국 실버산업 전체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528" y="2468879"/>
            <a:ext cx="3880104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9392" y="2496311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168조 원 (2030 전망)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798063"/>
            <a:ext cx="3880104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2825495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SAM (유효 시장)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4423" y="2798063"/>
            <a:ext cx="3880104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9287" y="2825495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국내 IT 기반 시니어 케어·위치추적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4528" y="2798063"/>
            <a:ext cx="3880104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9392" y="2825495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약 1~2조 원 (추정)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127248"/>
            <a:ext cx="3880104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3154679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SOM (확보 가능 시장)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54423" y="3127248"/>
            <a:ext cx="3880104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9287" y="3154679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출시 초기 3개월 MVP 기반 목표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528" y="3127248"/>
            <a:ext cx="3880104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89392" y="3154679"/>
            <a:ext cx="3788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DAU 500명, 100 가족 그룹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474720"/>
            <a:ext cx="374903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347472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356616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맑은 고딕"/>
              </a:rPr>
              <a:t>치매 환자 수 (2024)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3794759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910,898명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29768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2020년 대비 72% 급증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3474720"/>
            <a:ext cx="374903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347472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15968" y="356616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맑은 고딕"/>
              </a:rPr>
              <a:t>연간 치매 실종신고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3794759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15,502건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5968" y="429768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법정 취약군의 31.2%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3474720"/>
            <a:ext cx="377647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60" y="3474720"/>
            <a:ext cx="377647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7888" y="356616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맑은 고딕"/>
              </a:rPr>
              <a:t>배회감지기 보급률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3794759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6.1%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429768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미개척 시장 93.9%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66344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" y="470001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54423" y="466344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9287" y="470001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수치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34528" y="466344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9392" y="470001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출처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956048"/>
            <a:ext cx="3880104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4983480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글로벌 가족위치추적 앱 시장 (2025)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54423" y="4956048"/>
            <a:ext cx="3880104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9287" y="4983480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38억 달러 (약 5.1조 원)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34528" y="4956048"/>
            <a:ext cx="3880104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89392" y="4983480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마켓리서치 2-1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257800"/>
            <a:ext cx="3880104" cy="3017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" y="5285232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한국 초고령사회 진입 (2025)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54423" y="5257800"/>
            <a:ext cx="3880104" cy="3017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9287" y="5285232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65세 이상 인구 20% 초과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34528" y="5257800"/>
            <a:ext cx="3880104" cy="3017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89392" y="5285232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행안부 주민등록 통계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559552"/>
            <a:ext cx="3880104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5586984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정부 에이지테크 플래그십 프로젝트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54423" y="5559552"/>
            <a:ext cx="3880104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09287" y="5586984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3,000억 원 규모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34528" y="5559552"/>
            <a:ext cx="3880104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89392" y="5586984"/>
            <a:ext cx="3788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마켓리서치 2-8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시장 기회 &amp; 경쟁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기회 요인 · 경쟁사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820156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57287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기회 요인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914400"/>
            <a:ext cx="5820156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9340" y="950976"/>
            <a:ext cx="57287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07008"/>
            <a:ext cx="5820156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234440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최적 시장 진입 타이밍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1207008"/>
            <a:ext cx="5820156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9340" y="1234440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2025년 초고령사회 진입, 배회감지기 보급률 6.1%로 시장 대부분 미개척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45336"/>
            <a:ext cx="5820156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572768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소프트웨어 차별화 공간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545336"/>
            <a:ext cx="5820156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9340" y="1572768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기존 경쟁사 하드웨어 중심 / 현지화 미흡 — 카카오맵 + 한국어 UX 차별화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83664"/>
            <a:ext cx="5820156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911095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가족 소통 기능 공백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1883664"/>
            <a:ext cx="5820156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9340" y="1911095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iSharing·Gper 등 위치 공유만 제공, 위치+채팅+전화 통합으로 차별화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21991"/>
            <a:ext cx="5820156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249423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B2G 파트너십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2221991"/>
            <a:ext cx="5820156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9340" y="2249423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서울시×SKT 스마트 지킴이 — 수색 시간 92% 단축 성과 공인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60320"/>
            <a:ext cx="5820156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2587751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 생태계 활용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6" y="2560320"/>
            <a:ext cx="5820156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9340" y="2587751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시니어 친숙도 높은 카카오맵·알림톡 연동으로 진입 장벽 최소화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98648"/>
            <a:ext cx="5820156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926079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정부 에이지테크 지원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4476" y="2898648"/>
            <a:ext cx="5820156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9340" y="2926079"/>
            <a:ext cx="5728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디지털 대전환 플래그십 약 3,000억 원 — IoT·AI 돌봄 기기 보급 정책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경쟁사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84398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39262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강점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4476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9340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약점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4554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9418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가격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2452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425196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iSharing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84398" y="422452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39262" y="425196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한국어, 시니어 특화, 비활동 감지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4476" y="422452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9340" y="425196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채팅·전화 통합 없음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4554" y="422452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9418" y="425196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월 8,900원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55371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458114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Life360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4398" y="455371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39262" y="458114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9,780만 MAU, 채팅, SOS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4476" y="455371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49340" y="458114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한국어·카카오맵 미흡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04554" y="455371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9418" y="458114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Freemium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88289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491032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Gper(FAMY)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84398" y="488289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39262" y="491032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LoRa, 배터리 우수, 앱 없이 사용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4476" y="488289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49340" y="491032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하드웨어 필수, 소통 없음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4554" y="488289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59418" y="491032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단말기 구매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21208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523951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공공 배회감지기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84398" y="521208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39262" y="523951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무상 보급, 경찰청 연계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4476" y="521208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49340" y="523951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착용 거부 문제, 소통 없음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04554" y="521208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59418" y="523951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무상/저가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541264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9184" y="5568696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안심맵 (우리)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84398" y="5541264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39262" y="5568696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앱 불필요, 위치+SOS+채팅 원스톱, 카카오통합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94476" y="5541264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49340" y="5568696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신규 서비스, iOS 제약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04554" y="5541264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59418" y="5568696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Freemium 예정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타겟 사용자 &amp; 페르소나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3 페르소나 · 사용자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74903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맑은 고딕"/>
              </a:rPr>
              <a:t>김순자 (72세)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맑은 고딕"/>
              </a:rPr>
              <a:t>위치 제공자 — 독거 시니어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64208"/>
            <a:ext cx="3566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7556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핵심 니즈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5564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긴급 시 가족에게 쉽게 도움 요청, 안도감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현재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0312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자녀에게 주기적 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45059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불만 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5059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스마트폰 조작 어려움, 앱 설치 모름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798063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기대 가치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98063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버튼 하나로 가족에게 위치·긴급 신호 전달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3" y="914400"/>
            <a:ext cx="374903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15383" y="91440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맑은 고딕"/>
              </a:rPr>
              <a:t>이민준 (44세)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맑은 고딕"/>
              </a:rPr>
              <a:t>위치 확인자 — 직장인 자녀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3" y="1664208"/>
            <a:ext cx="3566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17556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핵심 니즈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75564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실시간 위치 확인, 이상 시 즉각 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210312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현재 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210312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하루 1~2회 전화, 연락 안 되면 지인 부탁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245059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불만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2664" y="245059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전화 안 받을 때 극도의 불안감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2544" y="2798063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기대 가치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2664" y="2798063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지도에서 실시간 확인, SOS 시 바로 전화 연결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7" y="914400"/>
            <a:ext cx="374903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7" y="914400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7" y="1005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맑은 고딕"/>
              </a:rPr>
              <a:t>박현수 (35세)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맑은 고딕"/>
              </a:rPr>
              <a:t>운영 관리자 — 서비스 운영사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47887" y="1664208"/>
            <a:ext cx="3566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7" y="17556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핵심 니즈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7" y="175564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회원(가족 그룹) 일괄 관리, 알림 대량 발송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7" y="210312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현재 방식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7" y="210312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엑셀 수동 관리, 개별 문자 발송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7" y="245059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불만 사항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7" y="245059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비효율적 관리, 발송 이력 추적 불가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7" y="2798063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맑은 고딕"/>
              </a:rPr>
              <a:t>기대 가치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7" y="2798063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맑은 고딕"/>
              </a:rPr>
              <a:t>어드민에서 SMS·알림톡 일괄 발송·이력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5720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46085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84398" y="45720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9262" y="46085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비중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4476" y="45720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9340" y="46085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특성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4554" y="45720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9418" y="46085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우선순위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6460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489204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독거 시니어 (부모님)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84398" y="486460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39262" y="489204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40%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4476" y="486460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9340" y="489204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70대+, 디지털 취약계층, 자녀 대리 설치 필요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4554" y="4864608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9418" y="4892040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19379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522122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3040 자녀 (가족 구성원)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84398" y="519379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39262" y="522122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45%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4476" y="519379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49340" y="522122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스마트폰 익숙, 원거리 거주, 서비스 의사결정자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04554" y="5193792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9418" y="5221224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52297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555040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운영 관리자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84398" y="552297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39262" y="555040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4476" y="552297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49340" y="555040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운영사 또는 지자체 담당자, B2G 계약 주체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4554" y="5522976"/>
            <a:ext cx="291007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9418" y="5550408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85216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" y="587959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치매·경도인지장애 시니어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84398" y="585216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39262" y="587959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10%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94476" y="585216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49340" y="587959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배회 위험 높음, 정부 연계 대상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04554" y="5852160"/>
            <a:ext cx="2910078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9418" y="5879592"/>
            <a:ext cx="281863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핵심 가치 제안 &amp; 차별화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Value Proposition · 5대 차별화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640312" cy="5943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987552"/>
            <a:ext cx="1141171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맑은 고딕"/>
              </a:rPr>
              <a:t>부모님은 버튼 하나로 안전을 알리고, 가족은 지도 한 장으로 안심한다.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22311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223113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맑은 고딕"/>
              </a:rPr>
              <a:t>한국 특화 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76272"/>
            <a:ext cx="2057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카카오맵 + 카카오 알림톡 + 국내 긴급신고 체계 연동.
글로벌 앱 대비 한국 UX 극대화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7" y="1664208"/>
            <a:ext cx="22311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7" y="1664208"/>
            <a:ext cx="223113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7556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맑은 고딕"/>
              </a:rPr>
              <a:t>위치 + 소통 원스톱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2176272"/>
            <a:ext cx="2057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위치·SOS·가족 채팅·전화 연결을
단일 서비스에서 모두 제공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664208"/>
            <a:ext cx="22311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1664208"/>
            <a:ext cx="2231136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5" y="17556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맑은 고딕"/>
              </a:rPr>
              <a:t>시니어 전용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2176272"/>
            <a:ext cx="2057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SOS 버튼 중앙, 글씨 18px+
버튼 48×48px+, WCAG AA 준수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4344" y="1664208"/>
            <a:ext cx="22311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4" y="1664208"/>
            <a:ext cx="223113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5783" y="17556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앱 설치 불필요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2176272"/>
            <a:ext cx="2057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모바일 웹 브라우저만으로 동작
시니어 설치 저항감 완전 해소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4352" y="1664208"/>
            <a:ext cx="22311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1664208"/>
            <a:ext cx="223113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17556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맑은 고딕"/>
              </a:rPr>
              <a:t>자녀 대리 온보딩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176272"/>
            <a:ext cx="2057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자녀가 초기 설정 완료
시니어 디지털 진입 장벽 현실적 해소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33087"/>
            <a:ext cx="5820156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4169663"/>
            <a:ext cx="57287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전략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4476" y="4133087"/>
            <a:ext cx="5820156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9340" y="4169663"/>
            <a:ext cx="57287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425696"/>
            <a:ext cx="58201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4453128"/>
            <a:ext cx="57287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한국 특화 통합 서비스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4425696"/>
            <a:ext cx="58201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9340" y="4453128"/>
            <a:ext cx="57287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카카오맵 지도 + 카카오 알림톡 + 국내 긴급신고 연동 — 글로벌 앱 대비 한국 사용자 경험 극대화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54880"/>
            <a:ext cx="5820156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4782312"/>
            <a:ext cx="57287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 + 소통 원스톱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4476" y="4754880"/>
            <a:ext cx="5820156" cy="32918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9340" y="4782312"/>
            <a:ext cx="57287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기존 경쟁사의 위치 공유 단일 기능 한계 극복, 가족 소통 채널(채팅·전화) 통합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084064"/>
            <a:ext cx="58201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5111496"/>
            <a:ext cx="57287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시니어 전용 초간편 UX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4476" y="5084064"/>
            <a:ext cx="582015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9340" y="5111496"/>
            <a:ext cx="57287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SOS 버튼 중앙 배치, 글씨 최소 18px, 버튼 최소 48×48px, WCAG AA 색상 대비 준수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서비스 범위 — MVP (P0)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출시 필수 기능 · Phase 0~1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기능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4423" y="91440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9287" y="95097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우선순위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4528" y="91440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9392" y="95097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07008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234440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휴대폰 번호 기반 회원가입·로그인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4423" y="1207008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9287" y="1234440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528" y="1207008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9392" y="1234440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인증 문자 없이 번호 입력만으로 간편 가입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54480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581912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가족 그룹 생성 및 코드 초대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4423" y="1554480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9287" y="1581912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4528" y="1554480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9392" y="1581912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QR 코드 또는 초대 코드로 가족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01952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1929384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위치정보 이용 동의 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4423" y="1901952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9287" y="1929384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901952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9392" y="1929384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위치정보법 준수, 부모님 명시적 동의 화면 분리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49424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276856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부모님 실시간 GPS 위치 공유 (30초)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4423" y="2249424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9287" y="2276856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4528" y="2249424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9392" y="2276856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브라우저 Geolocation API 활용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596896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624327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SOS 긴급 알림 버튼 (2초 카운트다운)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54423" y="2596896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9287" y="2624327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528" y="2596896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9392" y="2624327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FCM 푸시 + 위치 포함 가족 전원 즉시 알림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944368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2971799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 공유 ON/OFF 토글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54423" y="2944368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9287" y="2971799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4528" y="2944368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9392" y="2971799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부모님이 직접 제어 가능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291840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3319272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카카오맵 기반 실시간 위치 지도 + 마커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54423" y="3291840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9287" y="3319272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4528" y="3291840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89392" y="3319272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가족 화면 핵심 기능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639312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3666744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FCM 긴급 알림 수신 + 바로 전화 연결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54423" y="3639312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9287" y="3666744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4528" y="3639312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9392" y="3666744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SOS 수신 시 전화 연결 원터치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986784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" y="4014216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관리자 회원(가족 그룹) 목록·상세 조회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54423" y="3986784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9287" y="4014216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34528" y="3986784"/>
            <a:ext cx="388010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9392" y="4014216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어드민 화면 기본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334256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4361688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관리자 SMS 발송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54423" y="4334256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9287" y="4361688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34528" y="4334256"/>
            <a:ext cx="3880104" cy="34747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89392" y="4361688"/>
            <a:ext cx="37886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NHN Cloud SMS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394960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539496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048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확장 (P1)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" y="5715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위치 이력 7일 · 가족 채팅 · 알림톡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4048" y="6217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2026년 7~8월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5394960"/>
            <a:ext cx="3657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14800" y="5394960"/>
            <a:ext cx="365760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24528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맑은 고딕"/>
              </a:rPr>
              <a:t>확장 (P2)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5715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지오펜싱 · 배터리 절약 · 통계 대시보드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24528" y="6217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2026년 9월~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55279" y="5394960"/>
            <a:ext cx="377647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55279" y="5394960"/>
            <a:ext cx="37764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65007" y="548640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맑은 고딕"/>
              </a:rPr>
              <a:t>장기 (Phase 3)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65007" y="5715000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AI 비활동·이상행동 감지 · 낙상 분석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65007" y="621792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Phase 3+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브랜드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브랜드 아이덴티티 · 비주얼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33756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79" y="914400"/>
            <a:ext cx="333756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950976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07008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234440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서비스명 (공식)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79" y="1207008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234440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부모님 위치 확인 서비스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91056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618488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브랜드명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79" y="1591056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1618488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안심맵 (AnsimMap)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75104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002536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슬로건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79" y="1975104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2002536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언제 어디서나, 부모님이 보이는 안심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59152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386584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톤앤매너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79" y="2359152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744" y="2386584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따뜻하고 신뢰감, 복잡하지 않고 직관적인 가족의 파트너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43200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2770632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핵심 키워드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79" y="2743200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2770632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안심 · 연결 · 간편 · 가족 · 돌봄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27248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154679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타이포그래피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79" y="3127248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6744" y="3154679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본고딕 / Noto Sans KR — 최소 18px, 굵기 500+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511296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538727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아이콘 스타일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79" y="3511296"/>
            <a:ext cx="3337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66744" y="3538727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선 굵기 2.5px+, 단순 형태, 텍스트 레이블 병기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95344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3922776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디자인 방향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79" y="3895344"/>
            <a:ext cx="33375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66744" y="3922776"/>
            <a:ext cx="3246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맑은 고딕"/>
              </a:rPr>
              <a:t>미니멀·고대비, 시니어 친화 대형 버튼·아이콘, 정보 위계 명확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914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맑은 고딕"/>
              </a:rPr>
              <a:t>컬러 시스템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1371600"/>
            <a:ext cx="141732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265176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Primary
신뢰 블루
#2563EB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3794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메인 UI · 버튼 · 헤더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0" y="1371600"/>
            <a:ext cx="1417320" cy="2926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51392" y="265176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Secondary
따뜻한 그린
#16A34A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1392" y="3794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완료 · 안전 · 긍정 상태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19" y="1371600"/>
            <a:ext cx="1417320" cy="2926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05872" y="265176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Accent
SOS 레드
#DC2626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05872" y="3794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SOS 버튼 · 경고 · 긴급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303520"/>
            <a:ext cx="11640312" cy="5029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5303520"/>
            <a:ext cx="54864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79" y="5376672"/>
            <a:ext cx="114117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  <a:latin typeface="맑은 고딕"/>
              </a:rPr>
              <a:t>WCAG AA 색상 대비 준수 · 불필요한 장식 배제 · 시니어가 실제로 사용할 수 있는 서비스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수익원 구조 · 가격 전략 · 수익 시나리오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749039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맑은 고딕"/>
              </a:rPr>
              <a:t>B2C 구독 (Pro 플랜)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344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3736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월정액 Freemium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914400"/>
            <a:ext cx="3749039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914400"/>
            <a:ext cx="3749039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005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B2G 지자체·복지관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2344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73736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연간 단위 기업 계약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914400"/>
            <a:ext cx="377647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914400"/>
            <a:ext cx="37764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00584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맑은 고딕"/>
              </a:rPr>
              <a:t>관리자 모듈 판매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234440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73736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SMS·알림톡 라이선스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76272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212848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플랜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4398" y="2176272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9262" y="2212848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가격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2176272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9340" y="2212848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포함 기능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4554" y="2176272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9418" y="2212848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타겟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68879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2496311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4398" y="2468879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9262" y="2496311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무료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2468879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9340" y="2496311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실시간 위치 공유, SOS, 가족 그룹 1개(최대 5명), 이력 1일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4554" y="2468879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9418" y="2496311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신규 가입자 · 서비스 체험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52927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2880359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4398" y="2852927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9262" y="2880359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8,900원/월 (연 74,900원)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4476" y="2852927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9340" y="2880359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Free + 위치 이력 7일, 가족 채팅방, 안전 구역 2개, 배터리 절약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4554" y="2852927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9418" y="2880359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활성 이용 가족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36975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3264407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Enterprise (B2G)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84398" y="3236975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9262" y="3264407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협의 (가족 수 기반 연간)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4476" y="3236975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9340" y="3264407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Pro 전체 + 관리자 어드민, 대량 발송, 통계 대시보드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4554" y="3236975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9418" y="3264407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지자체·치매안심센터·복지관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84398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39262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가정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4476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9340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월 매출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4554" y="393192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9418" y="396849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연 매출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24528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4251960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보수적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84398" y="4224528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39262" y="4251960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Pro 전환 50가족 × 8,900원, B2G 없음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4476" y="4224528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49340" y="4251960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45만 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04554" y="4224528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9418" y="4251960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540만 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608576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4636008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기본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84398" y="4608576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39262" y="4636008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Pro 전환 300가족 + B2G 1건 월 100만 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4476" y="4608576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49340" y="4636008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367만 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4554" y="4608576"/>
            <a:ext cx="2910078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9418" y="4636008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4,400만 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992624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" y="5020056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낙관적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84398" y="4992624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39262" y="5020056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Pro 전환 1,000가족 + B2G 3건 월 300만 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94476" y="4992624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49340" y="5020056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1,190만 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04554" y="4992624"/>
            <a:ext cx="291007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9418" y="5020056"/>
            <a:ext cx="281863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약 1억 4,280만 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개발 전략 — 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AP-Framework V0.42 표준 스택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4423" y="91440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9287" y="95097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4528" y="91440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9392" y="95097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선정 사유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07008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234440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프론트엔드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4423" y="1207008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9287" y="1234440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Next.js + Tailwind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528" y="1207008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9392" y="1234440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SSR/SSG 지원, 반응형 UI 신속 구현, AP-Framework 표준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63624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591056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백엔드 (M1~M4)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4423" y="1563624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9287" y="1591056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Next.js API Routes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4528" y="1563624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9392" y="1591056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Vercel 통합 배포, 초기 인프라 비용 최소화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20240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1947672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데이터베이스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4423" y="1920240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9287" y="1947672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PostgreSQL (Supabase)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8" y="1920240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9392" y="1947672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안정적 관계형 DB, REST API, AP-Framework 표준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76856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304288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실시간 통신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4423" y="2276856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9287" y="2304288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WebSocket (Socket.io)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4528" y="2276856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9392" y="2304288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실시간 위치 공유 + 가족 채팅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33472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660903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지도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54423" y="2633472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9287" y="2660903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카카오맵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528" y="2633472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9392" y="2660903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한국 시니어 친숙도, 국내 POI 정확도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990088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3017520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푸시 알림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54423" y="2990088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9287" y="3017520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FCM (Firebase Cloud Messaging)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4528" y="2990088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9392" y="3017520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SOS 긴급 알림, iOS/Android 크로스플랫폼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346704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3374136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카카오톡 알림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54423" y="3346704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9287" y="3374136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 알림톡 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4528" y="3346704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89392" y="3374136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시니어 친숙도 높은 채널, 관리자 발송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703320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3730752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54423" y="3703320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9287" y="3730752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NHN Cloud SMS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4528" y="3703320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9392" y="3730752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관리자 대량 발송 백업 채널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059936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" y="4087368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인프라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54423" y="4059936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9287" y="4087368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Vercel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34528" y="4059936"/>
            <a:ext cx="3880104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9392" y="4087368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프론트엔드 + API Routes 통합 배포, GitHub 연동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416552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4443984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CI/CD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54423" y="4416552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9287" y="4443984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GitHub Actions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34528" y="4416552"/>
            <a:ext cx="3880104" cy="35661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89392" y="4443984"/>
            <a:ext cx="3788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자동 빌드·테스트·배포, AP-Framework V0.42 표준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806440"/>
            <a:ext cx="11640312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5806440"/>
            <a:ext cx="54864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79" y="5879592"/>
            <a:ext cx="11411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맑은 고딕"/>
              </a:rPr>
              <a:t>한 줄 표기:  Next.js + Tailwind CSS  /  Express.js  /  PostgreSQL  /  Vercel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개발 일정 — 마일스톤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Phase 0 ~ Phase 3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4398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9262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기간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9340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4554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9418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핵심 산출물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07008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234440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Phase 0  기획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4398" y="1207008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9262" y="1234440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2026-05-18 ~ 2026-06-07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1207008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9340" y="1234440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서비스 설계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4554" y="1207008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9418" y="1234440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마켓리서치, 서비스기획서, 요구사항정의서, 기능명세서, API스펙, 정보구조도, 화면설계서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737360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1764792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Phase 1  MVP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4398" y="1737360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9262" y="1764792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2026-06-08 ~ 2026-06-21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1737360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9340" y="1764792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 기능 구현 + Vercel 배포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4554" y="1737360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9418" y="1764792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인프라아키텍처, DB설계서, 디자인스타일가이드, 소스코드, 테스트시나리오, 완료보고서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67712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295144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Phase 2  고도화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4398" y="2267712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9262" y="2295144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2026-07 ~ 2026-08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6" y="2267712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9340" y="2295144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P1 기능 + Freemium 결제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4554" y="2267712"/>
            <a:ext cx="291007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9418" y="2295144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 이력, 가족 채팅, 알림톡 발송, 구독 결제 모듈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98063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825495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Phase 3  확장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4398" y="2798063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9262" y="2825495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2026-09 이후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4476" y="2798063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9340" y="2825495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P2 기능 + B2G 대응 + AI 탐색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4554" y="2798063"/>
            <a:ext cx="2910078" cy="530352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9418" y="2825495"/>
            <a:ext cx="2818638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지오펜싱, 통계 대시보드, AI 비활동 감지, 다수 부모님 지원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02336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402336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4114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맑은 고딕"/>
              </a:rPr>
              <a:t>현재 단계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343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Phase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4846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서비스 설계 · 산출물 생성 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402336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0" y="402336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24528" y="4114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MVP 목표일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4343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2026-06-21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4528" y="4846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P0 기능 전체 구현 + Vercel 배포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55279" y="4023360"/>
            <a:ext cx="377647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55279" y="4023360"/>
            <a:ext cx="377647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65007" y="411480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맑은 고딕"/>
              </a:rPr>
              <a:t>MVP 기간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65007" y="4343400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5주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65007" y="4846320"/>
            <a:ext cx="3593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2026-05-18 ~ 2026-06-21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리스크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위험 요소 · 대응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위험 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4398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9262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가능성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9340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영향도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4554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9418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대응 전략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07008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234440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위치정보법 위반 (R-01)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4398" y="1207008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9262" y="1234440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1207008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9340" y="1234440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4554" y="1207008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9418" y="1234440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위치기반서비스사업자 방통위 신고(신고제). 부모님 독립 동의 화면 분리 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166420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iOS 백그라운드 위치 제한 (R-02)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4398" y="1636776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9262" y="166420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1636776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9340" y="166420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4554" y="1636776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9418" y="166420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PWA 설치 유도 + 포그라운드 유지 안내. 2026-06-07 이전 대응 확정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066543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093975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SOS 긴급 오발신 (R-04)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4398" y="2066543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9262" y="2093975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6" y="2066543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9340" y="2093975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4554" y="2066543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9418" y="2093975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2초 카운트다운 또는 길게 누르기 방식. 오발신 취소 기능 제공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496312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523744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배터리 과소모 (R-03)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4398" y="2496312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9262" y="2523744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4476" y="2496312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9340" y="2523744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4554" y="2496312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9418" y="2523744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 전송 주기 조절 옵션 (기본 30초). Phase 2에서 배터리 절약 모드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926080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295351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WebSocket 연결 불안정 (R-07)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84398" y="2926080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39262" y="295351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2926080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9340" y="295351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4554" y="2926080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9418" y="2953512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재연결 로직 (exponential backoff). 연결 상태 UI 표시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355848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3383279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개인정보 유출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84398" y="3355848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39262" y="3383279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6" y="3355848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49340" y="3383279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High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04554" y="3355848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9418" y="3383279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HTTPS/TLS 전 구간 암호화. DB RLS 적용. 정기 보안 감사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785615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" y="381304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시니어 앱 설치 저항 (R-05)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4398" y="3785615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39262" y="381304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4476" y="3785615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49340" y="381304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04554" y="3785615"/>
            <a:ext cx="2910078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9418" y="3813048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자녀 대리 설치 온보딩. 모바일 웹으로 진입 장벽 제거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215384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" y="4242816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카카오 알림톡 과금 초과 (R-06)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84398" y="4215384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39262" y="4242816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Medium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4476" y="4215384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49340" y="4242816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Low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04554" y="4215384"/>
            <a:ext cx="2910078" cy="42976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9418" y="4242816"/>
            <a:ext cx="28186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발송 정책(대상·건수) 수립. 월 발송 한도 설정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897880"/>
            <a:ext cx="11640312" cy="438912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897880"/>
            <a:ext cx="54864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79" y="5971032"/>
            <a:ext cx="11411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1D1D"/>
                </a:solidFill>
                <a:latin typeface="맑은 고딕"/>
              </a:rPr>
              <a:t>R-01 법적 리스크 최우선 — 위치기반서비스사업자(신고제) vs 위치정보사업자(등록제) 구분, 출시 전 방통위 신고 완료 필수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KPI &amp; Go/No-Go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단계별 핵심 지표 · 의사결정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4398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9262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기간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9340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핵심 지표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4554" y="914400"/>
            <a:ext cx="2910078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9418" y="950976"/>
            <a:ext cx="28186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목표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07008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234440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4398" y="1207008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9262" y="1234440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1개월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1207008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9340" y="1234440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가족 그룹 생성 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4554" y="1207008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9418" y="1234440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100 그룹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545336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157276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Launch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4398" y="1545336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9262" y="157276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1개월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1545336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9340" y="157276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위치 공유 유지율 (7일+)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4554" y="1545336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9418" y="157276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70% 이상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883664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1911095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Launch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4398" y="1883664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9262" y="1911095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1개월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6" y="1883664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9340" y="1911095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페이지 로드 / SOS 알림 지연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4554" y="1883664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9418" y="1911095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각 3초 이내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221991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249423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Growth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4398" y="2221991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9262" y="2249423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3개월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4476" y="2221991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9340" y="2249423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일 활성 사용자 (DAU)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4554" y="2221991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9418" y="2249423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500명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560320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2587751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Growth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84398" y="2560320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39262" y="2587751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3개월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2560320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9340" y="2587751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채팅 메시지 전송 성공률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4554" y="2560320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9418" y="2587751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99% 이상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898648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2926079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Scale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84398" y="2898648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39262" y="2926079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6개월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6" y="2898648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49340" y="2926079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서비스 Uptime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04554" y="2898648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9418" y="2926079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99.5% 이상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236976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" y="326440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Scale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4398" y="3236976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39262" y="326440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6개월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4476" y="3236976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49340" y="326440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Pro 플랜 전환율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04554" y="3236976"/>
            <a:ext cx="2910078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9418" y="3264408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무료 사용자 대비 10%+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575304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" y="3602736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Scale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84398" y="3575304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39262" y="3602736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출시 6개월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4476" y="3575304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49340" y="3602736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B2G 계약 체결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04554" y="3575304"/>
            <a:ext cx="2910078" cy="33832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9418" y="3602736"/>
            <a:ext cx="281863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1건 이상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48056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451713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판단 시점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54423" y="448056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09287" y="451713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Go 기준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34528" y="4480560"/>
            <a:ext cx="3880104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89392" y="4517136"/>
            <a:ext cx="37886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No-Go 기준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773168"/>
            <a:ext cx="388010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9184" y="4800600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MVP 출시 전 (2026-06-21)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54423" y="4773168"/>
            <a:ext cx="388010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09287" y="4800600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 전체 구현 완료, 테스트 Pass 95%+, 방통위 신고 완료/진행 중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34528" y="4773168"/>
            <a:ext cx="388010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89392" y="4800600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P0 미구현 항목 존재, 위치정보 동의 절차 미완성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5157216"/>
            <a:ext cx="3880104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9184" y="5184648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Phase 2 진입 (2026-07)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54423" y="5157216"/>
            <a:ext cx="3880104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09287" y="5184648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30일 내 50 가족 그룹, 위치 공유 유지율 50%+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34528" y="5157216"/>
            <a:ext cx="3880104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89392" y="5184648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30일 내 20 그룹 미만, SOS 오발신 민원 3건+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5541264"/>
            <a:ext cx="388010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9184" y="5568696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유료 플랜 출시 (2026-08)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54423" y="5541264"/>
            <a:ext cx="388010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09287" y="5568696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DAU 200명+, 사용자 만족도 긍정 70%+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4528" y="5541264"/>
            <a:ext cx="3880104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9392" y="5568696"/>
            <a:ext cx="37886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맑은 고딕"/>
              </a:rPr>
              <a:t>DAU 100명 미만, 핵심 기능 장애 반복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승인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맑은 고딕"/>
              </a:rPr>
              <a:t>작성 · 검토 · 승인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371600"/>
            <a:ext cx="212598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3664" y="1408176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4780" y="1371600"/>
            <a:ext cx="212598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9644" y="1408176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성명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71600"/>
            <a:ext cx="212598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5624" y="1408176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서명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6740" y="1371600"/>
            <a:ext cx="212598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1604" y="1408176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일자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664208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4" y="1691640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>작성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4780" y="1664208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9644" y="1691640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>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64208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91640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206740" y="1664208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1604" y="1691640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>2026-05-31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084832"/>
            <a:ext cx="2125980" cy="42062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83664" y="2112264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>검토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4780" y="2084832"/>
            <a:ext cx="2125980" cy="42062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9644" y="2112264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84832"/>
            <a:ext cx="2125980" cy="42062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112264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206740" y="2084832"/>
            <a:ext cx="2125980" cy="420624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1604" y="2112264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505456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83664" y="2532888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>승인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4780" y="2505456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9644" y="2532888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505456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32888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8206740" y="2505456"/>
            <a:ext cx="21259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1604" y="2532888"/>
            <a:ext cx="20345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맑은 고딕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3429000"/>
            <a:ext cx="8503920" cy="8229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28800" y="342900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502152"/>
            <a:ext cx="8275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40AF"/>
                </a:solidFill>
                <a:latin typeface="맑은 고딕"/>
              </a:rPr>
              <a:t>본 서비스기획서는 PRD.md, 착수보고서.md, 마켓리서치.md (v1.1)을 참조하여 작성되었습니다.
Document Chaining #4 산출물  ·  AP-Framework V0.42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443484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0" y="443484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8528" y="4526279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맑은 고딕"/>
              </a:rPr>
              <a:t>문서 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8528" y="4754879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DOC-04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8528" y="5257800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443484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0" y="4434840"/>
            <a:ext cx="26517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64608" y="4526279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맑은 고딕"/>
              </a:rPr>
              <a:t>버전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4608" y="4754879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v1.1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4608" y="5257800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443484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80960" y="443484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90688" y="4526279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맑은 고딕"/>
              </a:rPr>
              <a:t>작성일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0688" y="4754879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맑은 고딕"/>
              </a:rPr>
              <a:t>2026-05-31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90688" y="5257800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부모님 위치 확인 서비스 — 서비스기획서 v1.1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